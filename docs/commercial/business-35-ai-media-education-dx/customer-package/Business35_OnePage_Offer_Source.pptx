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1페이지 안에 문제·방식·상품·가격·다음 단계를 설명한다.</a:t>
            </a:r>
          </a:p>
          <a:p/>
          <a:p>
            <a:r>
              <a:t>고객에게 물어볼 질문: 어떤 업무가 가장 시간이 많이 걸리나요?</a:t>
            </a:r>
          </a:p>
          <a:p/>
          <a:p>
            <a:r>
              <a:t>과장해서는 안 되는 부분: 가격을 확정 가격처럼 말하지 않고, 성과·정부지원금을 보장하지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201168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Business 35 · AI Media Education &amp; DX</a:t>
            </a:r>
          </a:p>
          <a:p>
            <a:r>
              <a:rPr sz="1600">
                <a:solidFill>
                  <a:srgbClr val="C9D6E3"/>
                </a:solidFill>
                <a:latin typeface="Malgun Gothic"/>
              </a:rPr>
              <a:t>AI 업무전환 프로그램 — 1페이지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5F"/>
                </a:solidFill>
                <a:latin typeface="Malgun Gothic"/>
              </a:rPr>
              <a:t>교육에서 끝나지 않고, 실제 업무 진단·실습·워크플로 재설계·파일럿·측정·운영 플레이북까지 연결합니다.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5E8C"/>
                </a:solidFill>
                <a:latin typeface="Malgun Gothic"/>
              </a:rPr>
              <a:t>고객의 현재 문제</a:t>
            </a:r>
          </a:p>
          <a:p>
            <a:r>
              <a:rPr sz="1300" b="0">
                <a:solidFill>
                  <a:srgbClr val="555A60"/>
                </a:solidFill>
                <a:latin typeface="Malgun Gothic"/>
              </a:rPr>
              <a:t>홍보·교육·콘텐츠 제작 수작업 · AI 사용 개인 단위 · 검토·승인 기준 부재 · 개인정보·저작권·사람 검토 위험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5E8C"/>
                </a:solidFill>
                <a:latin typeface="Malgun Gothic"/>
              </a:rPr>
              <a:t>7단계 방식</a:t>
            </a:r>
          </a:p>
          <a:p>
            <a:r>
              <a:rPr sz="1300" b="0">
                <a:solidFill>
                  <a:srgbClr val="1F3A5F"/>
                </a:solidFill>
                <a:latin typeface="Malgun Gothic"/>
              </a:rPr>
              <a:t>진단 → 직무 교육 → 실제 실습 → 워크플로 재설계 → 제한 파일럿 → 성과 측정 → 운영 플레이북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069080"/>
            <a:ext cx="11155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5E8C"/>
                </a:solidFill>
                <a:latin typeface="Malgun Gothic"/>
              </a:rPr>
              <a:t>상품 A / B / C</a:t>
            </a:r>
          </a:p>
          <a:p>
            <a:r>
              <a:rPr sz="1300" b="0">
                <a:solidFill>
                  <a:srgbClr val="555A60"/>
                </a:solidFill>
                <a:latin typeface="Malgun Gothic"/>
              </a:rPr>
              <a:t>A 진단 워크숍 300만–800만원 (초기 300만–500만원)</a:t>
            </a:r>
          </a:p>
          <a:p>
            <a:r>
              <a:rPr sz="1300" b="0">
                <a:solidFill>
                  <a:srgbClr val="555A60"/>
                </a:solidFill>
                <a:latin typeface="Malgun Gothic"/>
              </a:rPr>
              <a:t>B 디자인 파트너 파일럿 1,000만–1,500만원 · B 표준 6주 파일럿 1,500만–2,500만원</a:t>
            </a:r>
          </a:p>
          <a:p>
            <a:r>
              <a:rPr sz="1300" b="0">
                <a:solidFill>
                  <a:srgbClr val="555A60"/>
                </a:solidFill>
                <a:latin typeface="Malgun Gothic"/>
              </a:rPr>
              <a:t>C 조직 운영 자문 월 300만–600만원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25780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5E8C"/>
                </a:solidFill>
                <a:latin typeface="Malgun Gothic"/>
              </a:rPr>
              <a:t>다음 행동</a:t>
            </a:r>
          </a:p>
          <a:p>
            <a:r>
              <a:rPr sz="1300" b="0">
                <a:solidFill>
                  <a:srgbClr val="555A60"/>
                </a:solidFill>
                <a:latin typeface="Malgun Gothic"/>
              </a:rPr>
              <a:t>30분 사전 상담 → 대상 업무 1개 선정 → 진단 워크숍 범위 확정 → 견적·일정 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63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5A60"/>
                </a:solidFill>
                <a:latin typeface="Malgun Gothic"/>
              </a:rPr>
              <a:t>CUSTOMER-FACING MASTER · FINAL IDENTITY REQUIRED · LEGAL REVIEW REQUIRED · NOT YET SENT</a:t>
            </a:r>
          </a:p>
          <a:p>
            <a:r>
              <a:rPr sz="1000" b="0">
                <a:solidFill>
                  <a:srgbClr val="555A60"/>
                </a:solidFill>
                <a:latin typeface="Malgun Gothic"/>
              </a:rPr>
              <a:t>제공자 정보 최종 확정 필요 · 제안 제공자 정보는 발송 전 최종 확정</a:t>
            </a:r>
          </a:p>
          <a:p>
            <a:r>
              <a:rPr sz="900" b="0">
                <a:solidFill>
                  <a:srgbClr val="555A60"/>
                </a:solidFill>
                <a:latin typeface="Malgun Gothic"/>
              </a:rPr>
              <a:t>가격은 시장 검증 전 자사 가격 가설 · 범위와 인원·기간에 따라 최종 견적 · VAT는 최종 견적서에서 확정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