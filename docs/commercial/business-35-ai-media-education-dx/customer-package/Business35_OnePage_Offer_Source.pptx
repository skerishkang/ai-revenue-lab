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 말할 내용: 1페이지 안에 문제·방식·상품·가격·다음 단계를 설명한다.</a:t>
            </a:r>
          </a:p>
          <a:p/>
          <a:p>
            <a:r>
              <a:t>고객에게 물어볼 질문: 어떤 업무가 가장 시간이 많이 걸리나요?</a:t>
            </a:r>
          </a:p>
          <a:p/>
          <a:p>
            <a:r>
              <a:t>과장해서는 안 되는 부분: 가격을 확정 가격처럼 말하지 않고, 성과·정부지원금을 보장하지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 tIns="201168" wrap="square"/>
          <a:lstStyle/>
          <a:p>
            <a:pPr algn="ctr"/>
            <a:r>
              <a:rPr sz="2800" b="1">
                <a:solidFill>
                  <a:srgbClr val="FFFFFF"/>
                </a:solidFill>
                <a:latin typeface="Malgun Gothic"/>
              </a:rPr>
              <a:t>Business 35 · AI Media Education &amp; DX</a:t>
            </a:r>
          </a:p>
          <a:p>
            <a:r>
              <a:rPr sz="1600">
                <a:solidFill>
                  <a:srgbClr val="C9D6E3"/>
                </a:solidFill>
                <a:latin typeface="Malgun Gothic"/>
              </a:rPr>
              <a:t>AI 업무전환 프로그램 — 1페이지 소개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63040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F3A5F"/>
                </a:solidFill>
                <a:latin typeface="Malgun Gothic"/>
              </a:rPr>
              <a:t>교육에서 끝나지 않고, 실제 업무 진단·실습·워크플로 재설계·파일럿·측정·운영 플레이북까지 연결합니다.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2194560"/>
            <a:ext cx="548640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400" b="1">
                <a:solidFill>
                  <a:srgbClr val="2E5E8C"/>
                </a:solidFill>
                <a:latin typeface="Malgun Gothic"/>
              </a:rPr>
              <a:t>고객의 현재 문제</a:t>
            </a:r>
          </a:p>
          <a:p>
            <a:r>
              <a:rPr sz="1200" b="0">
                <a:solidFill>
                  <a:srgbClr val="555A60"/>
                </a:solidFill>
                <a:latin typeface="Malgun Gothic"/>
              </a:rPr>
              <a:t>• 수작업 콘텐츠 제작</a:t>
            </a:r>
          </a:p>
          <a:p>
            <a:r>
              <a:rPr sz="1200" b="0">
                <a:solidFill>
                  <a:srgbClr val="555A60"/>
                </a:solidFill>
                <a:latin typeface="Malgun Gothic"/>
              </a:rPr>
              <a:t>• 개인별 AI 사용</a:t>
            </a:r>
          </a:p>
          <a:p>
            <a:r>
              <a:rPr sz="1200" b="0">
                <a:solidFill>
                  <a:srgbClr val="555A60"/>
                </a:solidFill>
                <a:latin typeface="Malgun Gothic"/>
              </a:rPr>
              <a:t>• 검토·승인 기준 부재</a:t>
            </a:r>
          </a:p>
          <a:p>
            <a:r>
              <a:rPr sz="1200" b="0">
                <a:solidFill>
                  <a:srgbClr val="555A60"/>
                </a:solidFill>
                <a:latin typeface="Malgun Gothic"/>
              </a:rPr>
              <a:t>• 개인정보·저작권 위험</a:t>
            </a:r>
          </a:p>
          <a:p>
            <a:r>
              <a:rPr sz="1400" b="1">
                <a:solidFill>
                  <a:srgbClr val="2E5E8C"/>
                </a:solidFill>
                <a:latin typeface="Malgun Gothic"/>
              </a:rPr>
              <a:t>Business 35 방식</a:t>
            </a:r>
          </a:p>
          <a:p>
            <a:r>
              <a:rPr sz="1200" b="0">
                <a:solidFill>
                  <a:srgbClr val="1F3A5F"/>
                </a:solidFill>
                <a:latin typeface="Malgun Gothic"/>
              </a:rPr>
              <a:t>• 진단 → 직무 교육</a:t>
            </a:r>
          </a:p>
          <a:p>
            <a:r>
              <a:rPr sz="1200" b="0">
                <a:solidFill>
                  <a:srgbClr val="1F3A5F"/>
                </a:solidFill>
                <a:latin typeface="Malgun Gothic"/>
              </a:rPr>
              <a:t>• 실제 업무 실습</a:t>
            </a:r>
          </a:p>
          <a:p>
            <a:r>
              <a:rPr sz="1200" b="0">
                <a:solidFill>
                  <a:srgbClr val="1F3A5F"/>
                </a:solidFill>
                <a:latin typeface="Malgun Gothic"/>
              </a:rPr>
              <a:t>• 워크플로 재설계</a:t>
            </a:r>
          </a:p>
          <a:p>
            <a:r>
              <a:rPr sz="1200" b="0">
                <a:solidFill>
                  <a:srgbClr val="1F3A5F"/>
                </a:solidFill>
                <a:latin typeface="Malgun Gothic"/>
              </a:rPr>
              <a:t>• 제한 파일럿</a:t>
            </a:r>
          </a:p>
          <a:p>
            <a:r>
              <a:rPr sz="1200" b="0">
                <a:solidFill>
                  <a:srgbClr val="1F3A5F"/>
                </a:solidFill>
                <a:latin typeface="Malgun Gothic"/>
              </a:rPr>
              <a:t>• 성과 측정 · 운영 플레이북</a:t>
            </a:r>
          </a:p>
        </p:txBody>
      </p:sp>
      <p:sp>
        <p:nvSpPr>
          <p:cNvPr id="6" name="Rectangle 5"/>
          <p:cNvSpPr/>
          <p:nvPr/>
        </p:nvSpPr>
        <p:spPr>
          <a:xfrm>
            <a:off x="6172200" y="2194560"/>
            <a:ext cx="548640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400" b="1">
                <a:solidFill>
                  <a:srgbClr val="2E5E8C"/>
                </a:solidFill>
                <a:latin typeface="Malgun Gothic"/>
              </a:rPr>
              <a:t>상품 A · 진단 워크숍</a:t>
            </a:r>
          </a:p>
          <a:p>
            <a:r>
              <a:rPr sz="1200" b="0">
                <a:solidFill>
                  <a:srgbClr val="555A60"/>
                </a:solidFill>
                <a:latin typeface="Malgun Gothic"/>
              </a:rPr>
              <a:t>• 1~2일 · 초기 제안 300만~500만원</a:t>
            </a:r>
          </a:p>
          <a:p>
            <a:r>
              <a:rPr sz="1200" b="0">
                <a:solidFill>
                  <a:srgbClr val="555A60"/>
                </a:solidFill>
                <a:latin typeface="Malgun Gothic"/>
              </a:rPr>
              <a:t>• 현재 흐름 진단 · 후보 선정 · 위험 분리</a:t>
            </a:r>
          </a:p>
          <a:p>
            <a:r>
              <a:rPr sz="1200" b="0">
                <a:solidFill>
                  <a:srgbClr val="555A60"/>
                </a:solidFill>
                <a:latin typeface="Malgun Gothic"/>
              </a:rPr>
              <a:t>• 직무별 실습 · 경영진 결과 보고</a:t>
            </a:r>
          </a:p>
          <a:p>
            <a:r>
              <a:rPr sz="1400" b="1">
                <a:solidFill>
                  <a:srgbClr val="2E5E8C"/>
                </a:solidFill>
                <a:latin typeface="Malgun Gothic"/>
              </a:rPr>
              <a:t>상품 B · 6주 파일럿</a:t>
            </a:r>
          </a:p>
          <a:p>
            <a:r>
              <a:rPr sz="1200" b="0">
                <a:solidFill>
                  <a:srgbClr val="555A60"/>
                </a:solidFill>
                <a:latin typeface="Malgun Gothic"/>
              </a:rPr>
              <a:t>• 1개 팀 · 1개 업무 · 디자인 파트너 1,000만~1,500만원</a:t>
            </a:r>
          </a:p>
          <a:p>
            <a:r>
              <a:rPr sz="1200" b="0">
                <a:solidFill>
                  <a:srgbClr val="555A60"/>
                </a:solidFill>
                <a:latin typeface="Malgun Gothic"/>
              </a:rPr>
              <a:t>• 표준 6주 파일럿 1,500만~2,500만원</a:t>
            </a:r>
          </a:p>
          <a:p>
            <a:r>
              <a:rPr sz="1200" b="0">
                <a:solidFill>
                  <a:srgbClr val="555A60"/>
                </a:solidFill>
                <a:latin typeface="Malgun Gothic"/>
              </a:rPr>
              <a:t>• 기준선 · 교육 · 재설계 · 파일럿 · 성과·위험 보고 · 플레이북</a:t>
            </a:r>
          </a:p>
          <a:p>
            <a:r>
              <a:rPr sz="1400" b="1">
                <a:solidFill>
                  <a:srgbClr val="2E5E8C"/>
                </a:solidFill>
                <a:latin typeface="Malgun Gothic"/>
              </a:rPr>
              <a:t>상품 C · 운영 자문 · 월 300만~600만원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25780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5E8C"/>
                </a:solidFill>
                <a:latin typeface="Malgun Gothic"/>
              </a:rPr>
              <a:t>다음 행동</a:t>
            </a:r>
          </a:p>
          <a:p>
            <a:r>
              <a:rPr sz="1300" b="0">
                <a:solidFill>
                  <a:srgbClr val="555A60"/>
                </a:solidFill>
                <a:latin typeface="Malgun Gothic"/>
              </a:rPr>
              <a:t>30분 사전 상담 → 대상 업무 1개 선정 → 진단 워크숍 범위 확정 → 견적·일정 승인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26364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55A60"/>
                </a:solidFill>
                <a:latin typeface="Malgun Gothic"/>
              </a:rPr>
              <a:t>CUSTOMER-FACING MASTER · FINAL IDENTITY REQUIRED · LEGAL REVIEW REQUIRED · NOT YET SENT</a:t>
            </a:r>
          </a:p>
          <a:p>
            <a:r>
              <a:rPr sz="1000" b="0">
                <a:solidFill>
                  <a:srgbClr val="555A60"/>
                </a:solidFill>
                <a:latin typeface="Malgun Gothic"/>
              </a:rPr>
              <a:t>제공자 정보 최종 확정 필요 · 제안 제공자 정보는 발송 전 최종 확정</a:t>
            </a:r>
          </a:p>
          <a:p>
            <a:r>
              <a:rPr sz="900" b="0">
                <a:solidFill>
                  <a:srgbClr val="555A60"/>
                </a:solidFill>
                <a:latin typeface="Malgun Gothic"/>
              </a:rPr>
              <a:t>가격은 시장 검증 전 자사 가격 가설 · 범위와 인원·기간에 따라 최종 견적 · VAT는 최종 견적서에서 확정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