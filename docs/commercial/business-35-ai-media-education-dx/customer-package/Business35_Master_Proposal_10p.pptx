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표지에서 제품명·핵심 제안 한 문장·제공자(파디엠)·대상 고객군·대표 진입 상품·DRAFT 상태만 보여준다.</a:t>
            </a:r>
          </a:p>
          <a:p/>
          <a:p>
            <a:r>
              <a:t>고객에게 물어볼 질문: 조직에서 가장 시간이 오래 걸리는 콘텐츠 업무는 무엇인가요?</a:t>
            </a:r>
          </a:p>
          <a:p/>
          <a:p>
            <a:r>
              <a:t>과장해서는 안 되는 부분: 가격을 확정 가격처럼 말하지 않는다. 성과·정부지원금을 보장하지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고객 조직의 콘텐츠 제작이 수작업에 의존하고, AI는 개인 단위로만 쓰이며, 검토·승인 기준이 없다는 점을 공감하며 설명한다.</a:t>
            </a:r>
          </a:p>
          <a:p/>
          <a:p>
            <a:r>
              <a:t>고객에게 물어볼 질문: 현재 콘텐츠 1건을 만드는 데 며칠이 걸리나요? 검토는 몇 단계인가요?</a:t>
            </a:r>
          </a:p>
          <a:p/>
          <a:p>
            <a:r>
              <a:t>과장해서는 안 되는 부분: 통계로 고객을 압박하지 않고, 고객의 실제 상황을 묻는 데 집중한다.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일반 AI 교육이 왜 실제 업무 변화로 이어지지 않는지 구조적으로 설명한다. 경쟁 강의를 비방하지 않는다.</a:t>
            </a:r>
          </a:p>
          <a:p/>
          <a:p>
            <a:r>
              <a:t>고객에게 물어볼 질문: 지난 교육을 받고 실제 업무에 반영된 것은 무엇인가요?</a:t>
            </a:r>
          </a:p>
          <a:p/>
          <a:p>
            <a:r>
              <a:t>과장해서는 안 되는 부분: 교육업체를 비판하는 어조를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7단계 업무전환 구조를 설명하고, 결과물이 사람이 승인한 운영 플레이북임을 강조한다.</a:t>
            </a:r>
          </a:p>
          <a:p/>
          <a:p>
            <a:r>
              <a:t>고객에게 물어볼 질문: 현재 가장 바꾸고 싶은 업무가 무엇인가요?</a:t>
            </a:r>
          </a:p>
          <a:p/>
          <a:p>
            <a:r>
              <a:t>과장해서는 안 되는 부분: 전체 업무 전환을 보장하지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진단을 통해 고객 조직에 맞는 대상 업무 1개를 고르는 것을 안내한다. 합성 예시임을 분명히 한다.</a:t>
            </a:r>
          </a:p>
          <a:p/>
          <a:p>
            <a:r>
              <a:t>고객에게 물어볼 질문: 이 중 실제로 가장 시간이 오래 걸리는 업무는 무엇인가요?</a:t>
            </a:r>
          </a:p>
          <a:p/>
          <a:p>
            <a:r>
              <a:t>과장해서는 안 되는 부분: 실제 고객 성과 사례처럼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진단 워크숍은 변화의 출발점이며, 고객 조직이 무엇을 바꿀지 함께 찾는 자리라고 설명한다.</a:t>
            </a:r>
          </a:p>
          <a:p/>
          <a:p>
            <a:r>
              <a:t>고객에게 물어볼 질문: 워크숍에 참여할 수 있는 팀과 일정이 있나요?</a:t>
            </a:r>
          </a:p>
          <a:p/>
          <a:p>
            <a:r>
              <a:t>과장해서는 안 되는 부분: 가격을 확정 가격처럼 말하지 않는다 — 가설임을 명시한다.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파일럿은 1팀·1핵심 업무로 제한되어 위험을 낮추고, 측정 가능한 결과를 만든다고 설명한다.</a:t>
            </a:r>
          </a:p>
          <a:p/>
          <a:p>
            <a:r>
              <a:t>고객에게 물어볼 질문: 파일럿 후보 업무가 있나요? 담당자를 지정할 수 있나요?</a:t>
            </a:r>
          </a:p>
          <a:p/>
          <a:p>
            <a:r>
              <a:t>과장해서는 안 되는 부분: 성과를 보장하지 않는다. 사람 검토 gate가 필수임을 명시한다.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KPI는 속도·품질·채택·거버넌스 준수를 분리해 측정한다고 설명한다. 성과 보장이 아님을 강조한다.</a:t>
            </a:r>
          </a:p>
          <a:p/>
          <a:p>
            <a:r>
              <a:t>고객에게 물어볼 질문: 현재 어떤 기준으로 성과를 판단하고 있나요?</a:t>
            </a:r>
          </a:p>
          <a:p/>
          <a:p>
            <a:r>
              <a:t>과장해서는 안 되는 부분: KPI 목표 가설을 성과 보장으로 오인하지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가격은 가설이며 범위·인원·기간에 따라 달라진다고 명확히 한다. VAT는 최종 견적서에서 확정된다고 말한다.</a:t>
            </a:r>
          </a:p>
          <a:p/>
          <a:p>
            <a:r>
              <a:t>고객에게 물어볼 질문: 어느 상품 범위가 관심 있나요?</a:t>
            </a:r>
          </a:p>
          <a:p/>
          <a:p>
            <a:r>
              <a:t>과장해서는 안 되는 부분: 경쟁사 평균 가격 주장, 정부지원금 수령 가능 주장을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말할 내용: 다음 단계를 명확히 제시하고, 첫 상담에서는 계약 압박이나 정부지원금 확정 발언을 하지 않는다.</a:t>
            </a:r>
          </a:p>
          <a:p/>
          <a:p>
            <a:r>
              <a:t>고객에게 물어볼 질문: 편하신 시간에 30분 상담을 잡을 수 있을까요?</a:t>
            </a:r>
          </a:p>
          <a:p/>
          <a:p>
            <a:r>
              <a:t>과장해서는 안 되는 부분: 정부지원금 수령 가능, 1억원 이하 자동 수의계약을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Business 35 · AI Media Education &amp; DX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AI 교육에서 실제 업무전환까지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지역 문화·교육·미디어 조직을 위한 진단·실습·워크플로 재설계·파일럿 프로그램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 b="1">
                <a:solidFill>
                  <a:srgbClr val="2E5E8C"/>
                </a:solidFill>
                <a:latin typeface="Malgun Gothic"/>
              </a:rPr>
              <a:t>제공: 파디엠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500" b="0">
                <a:solidFill>
                  <a:srgbClr val="555A60"/>
                </a:solidFill>
                <a:latin typeface="Malgun Gothic"/>
              </a:rPr>
              <a:t>대상: 지역 문화기관 · 교육기관 · 협회·단체 · 미디어·콘텐츠 기관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500" b="0">
                <a:solidFill>
                  <a:srgbClr val="555A60"/>
                </a:solidFill>
                <a:latin typeface="Malgun Gothic"/>
              </a:rPr>
              <a:t>대표 진입 상품: 상품 A · 진단 워크숍 (초기형 300만~500만원)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300" b="0">
                <a:solidFill>
                  <a:srgbClr val="555A60"/>
                </a:solidFill>
                <a:latin typeface="Malgun Gothic"/>
              </a:rPr>
              <a:t>상세 내용은 이어지는 페이지에서 확인하실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2. 현재 문제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콘텐츠 제작은 늘었지만 조직의 기준과 검토체계는 따라오지 못합니다.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600" b="1">
                <a:solidFill>
                  <a:srgbClr val="C27B2D"/>
                </a:solidFill>
                <a:latin typeface="Malgun Gothic"/>
              </a:rPr>
              <a:t>A</a:t>
            </a:r>
          </a:p>
          <a:p>
            <a:pPr algn="ctr"/>
            <a:r>
              <a:rPr sz="1900" b="1">
                <a:solidFill>
                  <a:srgbClr val="1F3A5F"/>
                </a:solidFill>
                <a:latin typeface="Malgun Gothic"/>
              </a:rPr>
              <a:t>수작업 제작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홍보물·안내문·뉴스레터 초안이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개인 경험과 수동 검토에 의존합니다.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920240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600" b="1">
                <a:solidFill>
                  <a:srgbClr val="C27B2D"/>
                </a:solidFill>
                <a:latin typeface="Malgun Gothic"/>
              </a:rPr>
              <a:t>B</a:t>
            </a:r>
          </a:p>
          <a:p>
            <a:pPr algn="ctr"/>
            <a:r>
              <a:rPr sz="1900" b="1">
                <a:solidFill>
                  <a:srgbClr val="1F3A5F"/>
                </a:solidFill>
                <a:latin typeface="Malgun Gothic"/>
              </a:rPr>
              <a:t>개인별 AI 사용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조직원마다 개인적으로 AI를 쓰지만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조직 차원의 기준은 없습니다.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8" y="1920240"/>
            <a:ext cx="35204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600" b="1">
                <a:solidFill>
                  <a:srgbClr val="C27B2D"/>
                </a:solidFill>
                <a:latin typeface="Malgun Gothic"/>
              </a:rPr>
              <a:t>C</a:t>
            </a:r>
          </a:p>
          <a:p>
            <a:pPr algn="ctr"/>
            <a:r>
              <a:rPr sz="1900" b="1">
                <a:solidFill>
                  <a:srgbClr val="1F3A5F"/>
                </a:solidFill>
                <a:latin typeface="Malgun Gothic"/>
              </a:rPr>
              <a:t>검토 기준 부재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검토·승인 기준, 사용정책, 금지 업무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규칙이 없어 위험이 커집니다.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3. 일반 AI 교육의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교육 수료와 실제 업무 전환은 다릅니다.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1F3A5F"/>
                </a:solidFill>
                <a:latin typeface="Malgun Gothic"/>
              </a:rPr>
              <a:t>강의를 들어도 업무가 바뀌지 않음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지식 전달은 되지만 조직의 실제 업무 흐름과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연결되지 않으면 변화가 일어나지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92024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1F3A5F"/>
                </a:solidFill>
                <a:latin typeface="Malgun Gothic"/>
              </a:rPr>
              <a:t>정책·검토·승인·측정과 연결되지 않음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교육 수료는 역량 보유를 보장하지 않습니다.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검토 gate·승인 절차·성과 측정이 없으면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555A60"/>
                </a:solidFill>
                <a:latin typeface="Malgun Gothic"/>
              </a:rPr>
              <a:t>실무 반영이 어렵습니다.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A60"/>
                </a:solidFill>
                <a:latin typeface="Malgun Gothic"/>
              </a:rPr>
              <a:t>일반 AI 교육은 지식을 주지만, 조직의 사용정책·검토체계·성과 측정과 연결되지 않아 실제 업무 변화로 이어지지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4. Business 35 방식 — AI 업무전환 프로그램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진단에서 운영 플레이북까지 이어지는 7단계 업무전환 구조입니다.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교육에서 끝나지 않고, 실제 업무 진단·실습·재설계·파일럿·측정·플레이북까지 연결합니다.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417320" cy="146304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Malgun Gothic"/>
              </a:rPr>
              <a:t>진단</a:t>
            </a:r>
          </a:p>
        </p:txBody>
      </p:sp>
      <p:sp>
        <p:nvSpPr>
          <p:cNvPr id="9" name="Can 8"/>
          <p:cNvSpPr/>
          <p:nvPr/>
        </p:nvSpPr>
        <p:spPr>
          <a:xfrm>
            <a:off x="2066544" y="4343400"/>
            <a:ext cx="128016" cy="457200"/>
          </a:xfrm>
          <a:prstGeom prst="can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03704" y="3840480"/>
            <a:ext cx="1417320" cy="146304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Malgun Gothic"/>
              </a:rPr>
              <a:t>직무 교육</a:t>
            </a:r>
          </a:p>
        </p:txBody>
      </p:sp>
      <p:sp>
        <p:nvSpPr>
          <p:cNvPr id="11" name="Can 10"/>
          <p:cNvSpPr/>
          <p:nvPr/>
        </p:nvSpPr>
        <p:spPr>
          <a:xfrm>
            <a:off x="3630168" y="4343400"/>
            <a:ext cx="128016" cy="457200"/>
          </a:xfrm>
          <a:prstGeom prst="can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7328" y="3840480"/>
            <a:ext cx="1417320" cy="146304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Malgun Gothic"/>
              </a:rPr>
              <a:t>실제 실습</a:t>
            </a:r>
          </a:p>
        </p:txBody>
      </p:sp>
      <p:sp>
        <p:nvSpPr>
          <p:cNvPr id="13" name="Can 12"/>
          <p:cNvSpPr/>
          <p:nvPr/>
        </p:nvSpPr>
        <p:spPr>
          <a:xfrm>
            <a:off x="5193792" y="4343400"/>
            <a:ext cx="128016" cy="457200"/>
          </a:xfrm>
          <a:prstGeom prst="can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30952" y="3840480"/>
            <a:ext cx="1417320" cy="146304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Malgun Gothic"/>
              </a:rPr>
              <a:t>워크플로 재설계</a:t>
            </a:r>
          </a:p>
        </p:txBody>
      </p:sp>
      <p:sp>
        <p:nvSpPr>
          <p:cNvPr id="15" name="Can 14"/>
          <p:cNvSpPr/>
          <p:nvPr/>
        </p:nvSpPr>
        <p:spPr>
          <a:xfrm>
            <a:off x="6757416" y="4343400"/>
            <a:ext cx="128016" cy="457200"/>
          </a:xfrm>
          <a:prstGeom prst="can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94576" y="3840480"/>
            <a:ext cx="1417320" cy="146304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Malgun Gothic"/>
              </a:rPr>
              <a:t>제한 파일럿</a:t>
            </a:r>
          </a:p>
        </p:txBody>
      </p:sp>
      <p:sp>
        <p:nvSpPr>
          <p:cNvPr id="17" name="Can 16"/>
          <p:cNvSpPr/>
          <p:nvPr/>
        </p:nvSpPr>
        <p:spPr>
          <a:xfrm>
            <a:off x="8321040" y="4343400"/>
            <a:ext cx="128016" cy="457200"/>
          </a:xfrm>
          <a:prstGeom prst="can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3840480"/>
            <a:ext cx="1417320" cy="146304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Malgun Gothic"/>
              </a:rPr>
              <a:t>성과 측정</a:t>
            </a:r>
          </a:p>
        </p:txBody>
      </p:sp>
      <p:sp>
        <p:nvSpPr>
          <p:cNvPr id="19" name="Can 18"/>
          <p:cNvSpPr/>
          <p:nvPr/>
        </p:nvSpPr>
        <p:spPr>
          <a:xfrm>
            <a:off x="9884664" y="4343400"/>
            <a:ext cx="128016" cy="457200"/>
          </a:xfrm>
          <a:prstGeom prst="can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21824" y="3840480"/>
            <a:ext cx="1417320" cy="146304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Malgun Gothic"/>
              </a:rPr>
              <a:t>운영 플레이북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5. 대상 업무 — 합성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지역 문화·교육·미디어 조직에서 시작하기 쉬운 업무입니다.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846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3A5F"/>
                </a:solidFill>
                <a:latin typeface="Malgun Gothic"/>
              </a:rPr>
              <a:t>•  행사 홍보물 초안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4846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3A5F"/>
                </a:solidFill>
                <a:latin typeface="Malgun Gothic"/>
              </a:rPr>
              <a:t>•  교육 프로그램 안내문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4846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3A5F"/>
                </a:solidFill>
                <a:latin typeface="Malgun Gothic"/>
              </a:rPr>
              <a:t>•  뉴스레터 초안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920240"/>
            <a:ext cx="4846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3A5F"/>
                </a:solidFill>
                <a:latin typeface="Malgun Gothic"/>
              </a:rPr>
              <a:t>•  SNS 콘텐츠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697480"/>
            <a:ext cx="4846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3A5F"/>
                </a:solidFill>
                <a:latin typeface="Malgun Gothic"/>
              </a:rPr>
              <a:t>•  자료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474720"/>
            <a:ext cx="4846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3A5F"/>
                </a:solidFill>
                <a:latin typeface="Malgun Gothic"/>
              </a:rPr>
              <a:t>•  검토 체크리스트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555A60"/>
                </a:solidFill>
                <a:latin typeface="Malgun Gothic"/>
              </a:rPr>
              <a:t>이것은 실제 고객 성과 사례가 아니라 대상 업무의 합성 예시입니다. 진단을 통해 고객 조직에 맞는 업무 1개를 고릅니다.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6. 상품 A — AI 업무전환 진단 워크숍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짧고 낮은 진입장벽으로 고객의 첫 결정을 만듭니다.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51760" cy="118872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1~2일 워크숍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2651760" cy="14630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초기형 300만~500만원</a:t>
            </a:r>
          </a:p>
          <a:p>
            <a:pPr algn="ctr"/>
            <a:r>
              <a:rPr sz="1300">
                <a:solidFill>
                  <a:srgbClr val="FFE8C8"/>
                </a:solidFill>
                <a:latin typeface="Malgun Gothic"/>
              </a:rPr>
              <a:t>확장형 500만~800만원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920240"/>
            <a:ext cx="79095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700" b="1">
                <a:solidFill>
                  <a:srgbClr val="1F3A5F"/>
                </a:solidFill>
                <a:latin typeface="Malgun Gothic"/>
              </a:rPr>
              <a:t>주요 산출물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현재 업무 흐름 진단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AI 적용 후보 업무 1~3개 선정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위험·금지 업무 분리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직무별 실습 결과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경영진 결과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A60"/>
                </a:solidFill>
                <a:latin typeface="Malgun Gothic"/>
              </a:rPr>
              <a:t>가격은 시장 검증 전 자사 가격 가설입니다. 범위와 인원·기간에 따라 최종 견적이 달라집니다.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7. 상품 B1 — 6주 디자인 파트너 파일럿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작게 실행하고, 측정하고, 운영 기준을 남깁니다.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51760" cy="118872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6주 · 1팀 · 1핵심 업무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2651760" cy="137160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1,000만~1,500만원</a:t>
            </a:r>
          </a:p>
          <a:p>
            <a:pPr algn="ctr"/>
            <a:r>
              <a:rPr sz="1100">
                <a:solidFill>
                  <a:srgbClr val="FFE8C8"/>
                </a:solidFill>
                <a:latin typeface="Malgun Gothic"/>
              </a:rPr>
              <a:t>상품 B1 · 디자인 파트너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920240"/>
            <a:ext cx="79095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700" b="1">
                <a:solidFill>
                  <a:srgbClr val="1F3A5F"/>
                </a:solidFill>
                <a:latin typeface="Malgun Gothic"/>
              </a:rPr>
              <a:t>파일럿 진행 흐름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기준선 측정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직무별 교육 · 실제 실습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워크플로 재설계 · 사람 검토 gate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제한 파일럿 실행</a:t>
            </a:r>
          </a:p>
          <a:p>
            <a:r>
              <a:rPr sz="1500">
                <a:solidFill>
                  <a:srgbClr val="555A60"/>
                </a:solidFill>
                <a:latin typeface="Malgun Gothic"/>
              </a:rPr>
              <a:t>•  성과·위험 보고서 · 운영 플레이북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1481328" cy="86868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W0 계약·범위</a:t>
            </a:r>
          </a:p>
          <a:p>
            <a:pPr algn="ctr"/>
            <a:r>
              <a:rPr sz="1000">
                <a:solidFill>
                  <a:srgbClr val="E8EEF5"/>
                </a:solidFill>
                <a:latin typeface="Malgun Gothic"/>
              </a:rPr>
              <a:t>▸ 범위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0552" y="5047488"/>
            <a:ext cx="91440" cy="91440"/>
          </a:xfrm>
          <a:prstGeom prst="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136" y="4663440"/>
            <a:ext cx="1481328" cy="86868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W1 진단·기준선</a:t>
            </a:r>
          </a:p>
          <a:p>
            <a:pPr algn="ctr"/>
            <a:r>
              <a:rPr sz="1000">
                <a:solidFill>
                  <a:srgbClr val="E8EEF5"/>
                </a:solidFill>
                <a:latin typeface="Malgun Gothic"/>
              </a:rPr>
              <a:t>▸ 기준선 측정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1608" y="5047488"/>
            <a:ext cx="91440" cy="91440"/>
          </a:xfrm>
          <a:prstGeom prst="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22192" y="4663440"/>
            <a:ext cx="1481328" cy="86868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W2 교육·실습</a:t>
            </a:r>
          </a:p>
          <a:p>
            <a:pPr algn="ctr"/>
            <a:r>
              <a:rPr sz="1000">
                <a:solidFill>
                  <a:srgbClr val="E8EEF5"/>
                </a:solidFill>
                <a:latin typeface="Malgun Gothic"/>
              </a:rPr>
              <a:t>▸ 역량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2664" y="5047488"/>
            <a:ext cx="91440" cy="91440"/>
          </a:xfrm>
          <a:prstGeom prst="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13248" y="4663440"/>
            <a:ext cx="1481328" cy="86868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W3 재설계</a:t>
            </a:r>
          </a:p>
          <a:p>
            <a:pPr algn="ctr"/>
            <a:r>
              <a:rPr sz="1000">
                <a:solidFill>
                  <a:srgbClr val="E8EEF5"/>
                </a:solidFill>
                <a:latin typeface="Malgun Gothic"/>
              </a:rPr>
              <a:t>▸ 검토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5047488"/>
            <a:ext cx="91440" cy="91440"/>
          </a:xfrm>
          <a:prstGeom prst="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04304" y="4663440"/>
            <a:ext cx="1481328" cy="86868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W4 제한 파일럿</a:t>
            </a:r>
          </a:p>
          <a:p>
            <a:pPr algn="ctr"/>
            <a:r>
              <a:rPr sz="1000">
                <a:solidFill>
                  <a:srgbClr val="E8EEF5"/>
                </a:solidFill>
                <a:latin typeface="Malgun Gothic"/>
              </a:rPr>
              <a:t>▸ 실행 결과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94776" y="5047488"/>
            <a:ext cx="91440" cy="91440"/>
          </a:xfrm>
          <a:prstGeom prst="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4663440"/>
            <a:ext cx="1481328" cy="86868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W5 측정·보완</a:t>
            </a:r>
          </a:p>
          <a:p>
            <a:pPr algn="ctr"/>
            <a:r>
              <a:rPr sz="1000">
                <a:solidFill>
                  <a:srgbClr val="E8EEF5"/>
                </a:solidFill>
                <a:latin typeface="Malgun Gothic"/>
              </a:rPr>
              <a:t>▸ 중간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85832" y="5047488"/>
            <a:ext cx="91440" cy="91440"/>
          </a:xfrm>
          <a:prstGeom prst="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86416" y="4663440"/>
            <a:ext cx="1481328" cy="868680"/>
          </a:xfrm>
          <a:prstGeom prst="round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W6 결과·플레이북</a:t>
            </a:r>
          </a:p>
          <a:p>
            <a:pPr algn="ctr"/>
            <a:r>
              <a:rPr sz="1000">
                <a:solidFill>
                  <a:srgbClr val="E8EEF5"/>
                </a:solidFill>
                <a:latin typeface="Malgun Gothic"/>
              </a:rPr>
              <a:t>▸ 플레이북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555A60"/>
                </a:solidFill>
                <a:latin typeface="Malgun Gothic"/>
              </a:rPr>
              <a:t>가격은 시장 검증 전 가설입니다. 6주 상세 일정은 별도 수행계획서(04)에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8. KPI·위험관리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속도만 보지 않고 품질·채택·거버넌스를 함께 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Malgun Gothic"/>
              </a:rPr>
              <a:t>KPI 예시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4846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F3A5F"/>
                </a:solidFill>
                <a:latin typeface="Malgun Gothic"/>
              </a:rPr>
              <a:t>초안 작성시간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4846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F3A5F"/>
                </a:solidFill>
                <a:latin typeface="Malgun Gothic"/>
              </a:rPr>
              <a:t>검토 회차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4846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F3A5F"/>
                </a:solidFill>
                <a:latin typeface="Malgun Gothic"/>
              </a:rPr>
              <a:t>수정 반려율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651760"/>
            <a:ext cx="4846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F3A5F"/>
                </a:solidFill>
                <a:latin typeface="Malgun Gothic"/>
              </a:rPr>
              <a:t>승인 소요시간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4846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F3A5F"/>
                </a:solidFill>
                <a:latin typeface="Malgun Gothic"/>
              </a:rPr>
              <a:t>참여자 task completion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931920"/>
            <a:ext cx="48463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F3A5F"/>
                </a:solidFill>
                <a:latin typeface="Malgun Gothic"/>
              </a:rPr>
              <a:t>위험 사례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55A60"/>
                </a:solidFill>
                <a:latin typeface="Malgun Gothic"/>
              </a:rPr>
              <a:t>위험관리: 위험업무 제외 · 사람 검토 gate · 승인 도구 외 사용 금지 · 사고 시 중단 절차</a:t>
            </a:r>
          </a:p>
          <a:p>
            <a:pPr>
              <a:spcBef>
                <a:spcPts val="1000"/>
              </a:spcBef>
              <a:spcAft>
                <a:spcPts val="800"/>
              </a:spcAft>
            </a:pPr>
            <a:r>
              <a:rPr sz="1400" b="1">
                <a:solidFill>
                  <a:srgbClr val="C27B2D"/>
                </a:solidFill>
                <a:latin typeface="Malgun Gothic"/>
              </a:rPr>
              <a:t>KPI는 목표 가설이며 성과 보장을 의미하지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9. 가격 가설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시장 검증 전 자사 가격 가설이며 범위 확인 후 최종 견적을 제시합니다.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5E8C"/>
                </a:solidFill>
                <a:latin typeface="Malgun Gothic"/>
              </a:rPr>
              <a:t>상품 A</a:t>
            </a:r>
          </a:p>
          <a:p>
            <a:pPr algn="ctr"/>
            <a:r>
              <a:rPr sz="1700" b="1">
                <a:solidFill>
                  <a:srgbClr val="1F3A5F"/>
                </a:solidFill>
                <a:latin typeface="Malgun Gothic"/>
              </a:rPr>
              <a:t>진단 워크숍</a:t>
            </a:r>
          </a:p>
          <a:p>
            <a:pPr algn="ctr"/>
            <a:r>
              <a:rPr sz="1700" b="1">
                <a:solidFill>
                  <a:srgbClr val="C27B2D"/>
                </a:solidFill>
                <a:latin typeface="Malgun Gothic"/>
              </a:rPr>
              <a:t>초기형 300만~500만원</a:t>
            </a:r>
          </a:p>
          <a:p>
            <a:pPr algn="ctr"/>
            <a:r>
              <a:rPr sz="1100">
                <a:solidFill>
                  <a:srgbClr val="555A60"/>
                </a:solidFill>
                <a:latin typeface="Malgun Gothic"/>
              </a:rPr>
              <a:t>확장형 500만~800만원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5E8C"/>
                </a:solidFill>
                <a:latin typeface="Malgun Gothic"/>
              </a:rPr>
              <a:t>상품 B1</a:t>
            </a:r>
          </a:p>
          <a:p>
            <a:pPr algn="ctr"/>
            <a:r>
              <a:rPr sz="1700" b="1">
                <a:solidFill>
                  <a:srgbClr val="1F3A5F"/>
                </a:solidFill>
                <a:latin typeface="Malgun Gothic"/>
              </a:rPr>
              <a:t>디자인 파트너</a:t>
            </a:r>
          </a:p>
          <a:p>
            <a:pPr algn="ctr"/>
            <a:r>
              <a:rPr sz="1700" b="1">
                <a:solidFill>
                  <a:srgbClr val="C27B2D"/>
                </a:solidFill>
                <a:latin typeface="Malgun Gothic"/>
              </a:rPr>
              <a:t>1,000만~1,500만원</a:t>
            </a:r>
          </a:p>
          <a:p>
            <a:pPr algn="ctr"/>
            <a:r>
              <a:rPr sz="1100">
                <a:solidFill>
                  <a:srgbClr val="555A60"/>
                </a:solidFill>
                <a:latin typeface="Malgun Gothic"/>
              </a:rPr>
              <a:t>6주 파일럿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5E8C"/>
                </a:solidFill>
                <a:latin typeface="Malgun Gothic"/>
              </a:rPr>
              <a:t>상품 B2</a:t>
            </a:r>
          </a:p>
          <a:p>
            <a:pPr algn="ctr"/>
            <a:r>
              <a:rPr sz="1700" b="1">
                <a:solidFill>
                  <a:srgbClr val="1F3A5F"/>
                </a:solidFill>
                <a:latin typeface="Malgun Gothic"/>
              </a:rPr>
              <a:t>표준 파일럿</a:t>
            </a:r>
          </a:p>
          <a:p>
            <a:pPr algn="ctr"/>
            <a:r>
              <a:rPr sz="1700" b="1">
                <a:solidFill>
                  <a:srgbClr val="C27B2D"/>
                </a:solidFill>
                <a:latin typeface="Malgun Gothic"/>
              </a:rPr>
              <a:t>1,500만~2,500만원</a:t>
            </a:r>
          </a:p>
          <a:p>
            <a:pPr algn="ctr"/>
            <a:r>
              <a:rPr sz="1100">
                <a:solidFill>
                  <a:srgbClr val="555A60"/>
                </a:solidFill>
                <a:latin typeface="Malgun Gothic"/>
              </a:rPr>
              <a:t>6주 파일럿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92024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5E8C"/>
                </a:solidFill>
                <a:latin typeface="Malgun Gothic"/>
              </a:rPr>
              <a:t>상품 C</a:t>
            </a:r>
          </a:p>
          <a:p>
            <a:pPr algn="ctr"/>
            <a:r>
              <a:rPr sz="1700" b="1">
                <a:solidFill>
                  <a:srgbClr val="1F3A5F"/>
                </a:solidFill>
                <a:latin typeface="Malgun Gothic"/>
              </a:rPr>
              <a:t>운영 자문</a:t>
            </a:r>
          </a:p>
          <a:p>
            <a:pPr algn="ctr"/>
            <a:r>
              <a:rPr sz="1700" b="1">
                <a:solidFill>
                  <a:srgbClr val="C27B2D"/>
                </a:solidFill>
                <a:latin typeface="Malgun Gothic"/>
              </a:rPr>
              <a:t>월 300만~600만원</a:t>
            </a:r>
          </a:p>
          <a:p>
            <a:pPr algn="ctr"/>
            <a:r>
              <a:rPr sz="1100">
                <a:solidFill>
                  <a:srgbClr val="555A60"/>
                </a:solidFill>
                <a:latin typeface="Malgun Gothic"/>
              </a:rPr>
              <a:t>월 단위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27B2D"/>
                </a:solidFill>
                <a:latin typeface="Malgun Gothic"/>
              </a:rPr>
              <a:t>시장 검증 전 자사 가격 가설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500" b="1">
                <a:solidFill>
                  <a:srgbClr val="C27B2D"/>
                </a:solidFill>
                <a:latin typeface="Malgun Gothic"/>
              </a:rPr>
              <a:t>범위·인원·기간에 따라 최종 견적 · VAT 조건은 최종 견적서에서 확정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 tIns="164592" bIns="109728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10. 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18520" y="1261872"/>
            <a:ext cx="868680" cy="548640"/>
          </a:xfrm>
          <a:prstGeom prst="roundRect">
            <a:avLst/>
          </a:prstGeom>
          <a:solidFill>
            <a:srgbClr val="C2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195560" cy="566928"/>
          </a:xfrm>
          <a:prstGeom prst="rect">
            <a:avLst/>
          </a:prstGeom>
          <a:solidFill>
            <a:srgbClr val="E3E9F0"/>
          </a:solidFill>
          <a:ln w="9525">
            <a:solidFill>
              <a:srgbClr val="2E5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30분 상담에서 대상 업무 하나를 정하고, 워크숍 범위를 확정합니다.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A60"/>
                </a:solidFill>
                <a:latin typeface="Malgun Gothic"/>
              </a:rPr>
              <a:t>파디엠 ·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468880" cy="219456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30분 사전 상담</a:t>
            </a:r>
          </a:p>
          <a:p>
            <a:pPr algn="ctr"/>
            <a:r>
              <a:rPr sz="1100">
                <a:solidFill>
                  <a:srgbClr val="D5DEE8"/>
                </a:solidFill>
                <a:latin typeface="Malgun Gothic"/>
              </a:rPr>
              <a:t>현재 업무 흐름과 위험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219456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대상 업무 1개 선정</a:t>
            </a:r>
          </a:p>
          <a:p>
            <a:pPr algn="ctr"/>
            <a:r>
              <a:rPr sz="1100">
                <a:solidFill>
                  <a:srgbClr val="D5DEE8"/>
                </a:solidFill>
                <a:latin typeface="Malgun Gothic"/>
              </a:rPr>
              <a:t>홍보·교육·콘텐츠 중 하나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2468880" cy="219456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진단 워크숍 범위 확정</a:t>
            </a:r>
          </a:p>
          <a:p>
            <a:pPr algn="ctr"/>
            <a:r>
              <a:rPr sz="1100">
                <a:solidFill>
                  <a:srgbClr val="D5DEE8"/>
                </a:solidFill>
                <a:latin typeface="Malgun Gothic"/>
              </a:rPr>
              <a:t>참여자·일정·자료 범위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920240"/>
            <a:ext cx="2468880" cy="2194560"/>
          </a:xfrm>
          <a:prstGeom prst="roundRect">
            <a:avLst/>
          </a:prstGeom>
          <a:solidFill>
            <a:srgbClr val="2E5E8C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견적·일정 승인</a:t>
            </a:r>
          </a:p>
          <a:p>
            <a:pPr algn="ctr"/>
            <a:r>
              <a:rPr sz="1100">
                <a:solidFill>
                  <a:srgbClr val="D5DEE8"/>
                </a:solidFill>
                <a:latin typeface="Malgun Gothic"/>
              </a:rPr>
              <a:t>가격 가설 기반 최종 견적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A60"/>
                </a:solidFill>
                <a:latin typeface="Malgun Gothic"/>
              </a:rPr>
              <a:t>첫 상담에서 계약을 압박하지 않으며, 정부지원금 확정을 말하지 않습니다.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400" b="0">
                <a:solidFill>
                  <a:srgbClr val="555A60"/>
                </a:solidFill>
                <a:latin typeface="Malgun Gothic"/>
              </a:rPr>
              <a:t>조직별 사용정책·검토체계, 개인정보·저작권·조달, 전문 법률·계약 검토가 필요합니다.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Malgun Gothic"/>
              </a:rPr>
              <a:t>제공 및 계약 주체: 파디엠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0">
                <a:solidFill>
                  <a:srgbClr val="555A60"/>
                </a:solidFill>
                <a:latin typeface="Malgun Gothic"/>
              </a:rPr>
              <a:t>가격은 시장 검증 전 가설이며 범위·인원·기간에 따라 달라질 수 있습니다.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200" b="0">
                <a:solidFill>
                  <a:srgbClr val="555A60"/>
                </a:solidFill>
                <a:latin typeface="Malgun Gothic"/>
              </a:rPr>
              <a:t>전문 법률·계약 검토 후 최종 확정됩니다.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A60"/>
                </a:solidFill>
                <a:latin typeface="Malgun 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2026-09-03T00:00:00Z</dcterms:created>
  <dcterms:modified xsi:type="dcterms:W3CDTF">2026-09-03T00:00:00Z</dcterms:modified>
  <cp:category/>
</cp:coreProperties>
</file>