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첫 30초 안에 누구를 위한 제품인지 / 무엇을 입력하는지 / 무엇이 나오는지를 설명한다. 일반 AI 강의가 아니라 고객의 현재 업무가 출발점이다.</a:t>
            </a:r>
          </a:p>
          <a:p/>
          <a:p>
            <a:r>
              <a:t>고객에게 물어볼 질문: 조직에서 가장 시간이 오래 걸리는 콘텐츠 업무는 무엇인가요?</a:t>
            </a:r>
          </a:p>
          <a:p/>
          <a:p>
            <a:r>
              <a:t>과장해서는 안 되는 부분: 가격을 확정 가격처럼 말하지 않는다. 실제 계약·매출 발생 주장이 아님을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AI 도구 목록보다 먼저 어떤 미디어 업무의 어디가 막혀 있는지를 정한다고 설명한다. 팀 규모와 AI 사용 상태를 함께 확인한다.</a:t>
            </a:r>
          </a:p>
          <a:p/>
          <a:p>
            <a:r>
              <a:t>고객에게 물어볼 질문: 지금 어떤 업무를 바꾸고 싶습니까? 병목은 어디인가요?</a:t>
            </a:r>
          </a:p>
          <a:p/>
          <a:p>
            <a:r>
              <a:t>과장해서는 안 되는 부분: 비공개·민감 원문을 초기 상담 단계에서 받지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같은 AI 도구라도 조직마다 적용 후보·제외 영역·사람 검토 지점이 달라야 한다고 설명한다.</a:t>
            </a:r>
          </a:p>
          <a:p/>
          <a:p>
            <a:r>
              <a:t>고객에게 물어볼 질문: 검토와 승인 없이 자동화하면 안 되는 지점이 어디인가요?</a:t>
            </a:r>
          </a:p>
          <a:p/>
          <a:p>
            <a:r>
              <a:t>과장해서는 안 되는 부분: 진단을 법률 판단처럼 말하지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사람이 빠지는 자동화가 아니라 사람이 더 명확하게 승인하는 workflow임을 강조한다.</a:t>
            </a:r>
          </a:p>
          <a:p/>
          <a:p>
            <a:r>
              <a:t>고객에게 물어볼 질문: 현재 가장 바꾸고 싶은 업무가 무엇인가요?</a:t>
            </a:r>
          </a:p>
          <a:p/>
          <a:p>
            <a:r>
              <a:t>과장해서는 안 되는 부분: 전체 업무 전환을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전환안은 발표 자료로 끝나지 않고 팀이 실제로 쓰는 운영 산출물로 남는다고 설명한다.</a:t>
            </a:r>
          </a:p>
          <a:p/>
          <a:p>
            <a:r>
              <a:t>고객에게 물어볼 질문: 이 중 조직에 가장 필요한 산출물은 무엇인가요?</a:t>
            </a:r>
          </a:p>
          <a:p/>
          <a:p>
            <a:r>
              <a:t>과장해서는 안 되는 부분: 법률·계약 문서를 확정 문서처럼 표현하지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 워크숍은 변화의 출발점이며, 고객 조직이 무엇을 바꿀지 함께 찾는 자리라고 설명한다.</a:t>
            </a:r>
          </a:p>
          <a:p/>
          <a:p>
            <a:r>
              <a:t>고객에게 물어볼 질문: 워크숍에 참여할 수 있는 팀과 일정이 있나요?</a:t>
            </a:r>
          </a:p>
          <a:p/>
          <a:p>
            <a:r>
              <a:t>과장해서는 안 되는 부분: 가격을 확정 가격처럼 말하지 않는다 — 가설임을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파일럿은 1팀·1핵심 업무로 제한되어 위험을 낮추고, 측정 가능한 결과를 만든다고 설명한다.</a:t>
            </a:r>
          </a:p>
          <a:p/>
          <a:p>
            <a:r>
              <a:t>고객에게 물어볼 질문: 파일럿 후보 업무가 있나요? 담당자를 지정할 수 있나요?</a:t>
            </a:r>
          </a:p>
          <a:p/>
          <a:p>
            <a:r>
              <a:t>과장해서는 안 되는 부분: 성과를 보장하지 않는다. 사람 검토 gate가 필수임을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KPI는 속도·품질·채택·거버넌스 준수를 분리해 측정한다고 설명한다. 성과 보장이 아님을 강조한다.</a:t>
            </a:r>
          </a:p>
          <a:p/>
          <a:p>
            <a:r>
              <a:t>고객에게 물어볼 질문: 현재 어떤 기준으로 성과를 판단하고 있나요?</a:t>
            </a:r>
          </a:p>
          <a:p/>
          <a:p>
            <a:r>
              <a:t>과장해서는 안 되는 부분: KPI 목표 가설을 성과 보장으로 오인하지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가격은 가설이며 범위·인원·기간에 따라 달라진다고 명확히 한다. VAT는 최종 견적서에서 확정된다고 말한다.</a:t>
            </a:r>
          </a:p>
          <a:p/>
          <a:p>
            <a:r>
              <a:t>고객에게 물어볼 질문: 어느 상품 범위가 관심 있나요?</a:t>
            </a:r>
          </a:p>
          <a:p/>
          <a:p>
            <a:r>
              <a:t>과장해서는 안 되는 부분: 경쟁사 평균 가격 주장, 정부지원금 수령 가능 주장을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제품 데모의 마지막 행동과 제안서의 마지막 행동을 동일하게 유지한다: 진단 또는 파일럿 범위 확인.</a:t>
            </a:r>
          </a:p>
          <a:p/>
          <a:p>
            <a:r>
              <a:t>고객에게 물어볼 질문: 진단 워크숍 또는 6주 파일럿 중 어디부터 범위를 확인할까요?</a:t>
            </a:r>
          </a:p>
          <a:p/>
          <a:p>
            <a:r>
              <a:t>과장해서는 안 되는 부분: 정부지원금 수령 가능, 1억원 이하 자동 수의계약을 말하지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1. 제품과 결과 — 파디엠 AI 미디어 업무전환 스튜디오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팀의 실제 미디어 업무 한 흐름을 사람이 승인하는 운영체계로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Malgun Gothic"/>
              </a:rPr>
              <a:t>파디엠 AI 미디어 업무전환 스튜디오 — 서비스 주도형 업무전환 스튜디오</a:t>
            </a:r>
          </a:p>
          <a:p>
            <a:pPr>
              <a:spcBef>
                <a:spcPts val="1000"/>
              </a:spcBef>
              <a:spcAft>
                <a:spcPts val="800"/>
              </a:spcAft>
            </a:pPr>
            <a:r>
              <a:rPr sz="1500" b="0">
                <a:solidFill>
                  <a:srgbClr val="555A60"/>
                </a:solidFill>
                <a:latin typeface="Malgun Gothic"/>
              </a:rPr>
              <a:t>입력 한 번으로 진단·새 업무 흐름·사람 검토 지점·추천 파일럿·운영 산출물을 구성한다</a:t>
            </a:r>
          </a:p>
          <a:p>
            <a:pPr>
              <a:spcBef>
                <a:spcPts val="1000"/>
              </a:spcBef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대상: 지역 문화기관 · 교육기관 · 협회·단체 · 미디어·콘텐츠 기관 · 기업 홍보·콘텐츠팀</a:t>
            </a:r>
          </a:p>
          <a:p>
            <a:pPr>
              <a:spcBef>
                <a:spcPts val="1000"/>
              </a:spcBef>
              <a:spcAft>
                <a:spcPts val="800"/>
              </a:spcAft>
            </a:pPr>
            <a:r>
              <a:rPr sz="1400" b="1">
                <a:solidFill>
                  <a:srgbClr val="2E5E8C"/>
                </a:solidFill>
                <a:latin typeface="Malgun Gothic"/>
              </a:rPr>
              <a:t>제품 흐름: 고객 입력 → 진단 → 새 workflow → 추천 pilot</a:t>
            </a:r>
          </a:p>
          <a:p>
            <a:pPr>
              <a:spcBef>
                <a:spcPts val="1000"/>
              </a:spcBef>
              <a:spcAft>
                <a:spcPts val="800"/>
              </a:spcAft>
            </a:pPr>
            <a:r>
              <a:rPr sz="1100" b="0">
                <a:solidFill>
                  <a:srgbClr val="555A60"/>
                </a:solidFill>
                <a:latin typeface="Malgun Gothic"/>
              </a:rPr>
              <a:t>V3.1 여정: 현재 미디어 업무 병목 이해 → 조직·결과물·병목·팀 규모·AI 사용 상태 입력 → 조직별 진단 + 새 업무 흐름 + 추천 파일럿 확인 → 운영체계 산출물 이해 → 진단 워크숍 또는 6주 파일럿 범위 판단 → 자기 조직용 전환 요약으로 상담 준비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200" b="0">
                <a:solidFill>
                  <a:srgbClr val="555A60"/>
                </a:solidFill>
                <a:latin typeface="Malgun Gothic"/>
              </a:rPr>
              <a:t>실제 계약·매출 발생 주장이 아닙니다. 제공: 파디엠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2. 지금 바꿀 업무를 고른다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어떤 미디어 업무의 어디가 막혀 있는지를 먼저 정한다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입력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다섯 가지 입력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조직·결과물·병목·팀 규모·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AI 사용 상태를 입력합니다.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19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후보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결과물·병목 후보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홍보물·교육자료·영상·이미지·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캠페인 중 병목: 기획·초안·제작·검토·승인·배포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8" y="192024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원칙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합성·비식별 입력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비공개·민감 원문 없이도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제품 구조와 파일럿 후보를 설명합니다.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3. 조직별 진단이 나온다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조직마다 적용 후보·제외 영역·사람 검토 지점이 달라야 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5394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800" b="1">
                <a:solidFill>
                  <a:srgbClr val="1F3A5F"/>
                </a:solidFill>
                <a:latin typeface="Malgun Gothic"/>
              </a:rPr>
              <a:t>적용 후보 진단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현재 흐름과 병목을 기준으로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적용 후보를 좁힙니다.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920240"/>
            <a:ext cx="53949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ctr"/>
            <a:r>
              <a:rPr sz="1800" b="1">
                <a:solidFill>
                  <a:srgbClr val="1F3A5F"/>
                </a:solidFill>
                <a:latin typeface="Malgun Gothic"/>
              </a:rPr>
              <a:t>사람 검토 지점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자동화하면 안 되는 지점을 별도 표시하고,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승인 도구와 금지·주의 자료의 경계를 기록합니다.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AI 활용 확산과 함께 개인정보·저작권·투명성·안전성·사람 검토 등 조직 차원의 사용정책과 거버넌스 요구가 강화되고 있다.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진단은 법률 판단을 대신하지 않는다. 개인정보·저작권·조달은 고객별 확인이 필요하다.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4. 새 업무 흐름을 설계한다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AI는 workflow 안에 들어가고, 사람 승인 gate는 사라지지 않는다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53949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현재 흐름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555A60"/>
                </a:solidFill>
                <a:latin typeface="Malgun Gothic"/>
              </a:rPr>
              <a:t>기획 → 초안 → 제작</a:t>
            </a:r>
          </a:p>
          <a:p>
            <a:pPr>
              <a:spcBef>
                <a:spcPts val="800"/>
              </a:spcBef>
            </a:pPr>
            <a:r>
              <a:rPr sz="1500">
                <a:solidFill>
                  <a:srgbClr val="555A60"/>
                </a:solidFill>
                <a:latin typeface="Malgun Gothic"/>
              </a:rPr>
              <a:t>→ 검토 → 승인 → 게시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920240"/>
            <a:ext cx="5394960" cy="1828800"/>
          </a:xfrm>
          <a:prstGeom prst="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전환 흐름 예시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2E5E8C"/>
                </a:solidFill>
                <a:latin typeface="Malgun Gothic"/>
              </a:rPr>
              <a:t>요청 정의 → AI 보조 초안 → 제작</a:t>
            </a:r>
          </a:p>
          <a:p>
            <a:pPr>
              <a:spcBef>
                <a:spcPts val="800"/>
              </a:spcBef>
            </a:pPr>
            <a:r>
              <a:rPr sz="1500" b="1">
                <a:solidFill>
                  <a:srgbClr val="2E5E8C"/>
                </a:solidFill>
                <a:latin typeface="Malgun Gothic"/>
              </a:rPr>
              <a:t>→ 사람 검토 → 수정 → 승인 → 게시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555A60"/>
                </a:solidFill>
                <a:latin typeface="Malgun Gothic"/>
              </a:rPr>
              <a:t>자동화 대상과 사람 담당자의 책임을 구분하고, 예외 처리와 중단 조건을 설계한다. 결과물 품질보다 속도만 높이는 구조를 제안하지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5. 운영 산출물을 확인한다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발표 자료가 아니라 팀이 실제로 쓰는 운영 산출물로 남는다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•  업무 요청서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6032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•  AI 사용정책 초안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0040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•  금지·주의 자료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4048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•  사람 검토 지도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92024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•  프롬프트·작업 템플릿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256032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•  KPI 기준선·측정표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20040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•  파일럿 운영 체크리스트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840480"/>
            <a:ext cx="484632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•  전환 요약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634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각 산출물은 고객 조직의 범위에 맞춰 선택한다. 법률·계약 문서는 전문 검토가 필요한 영역을 별도로 표시한다.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교육자료 몇 장이 아니라 조직 운영에 남는 결과를 보여준다. 제공: 파디엠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6. 상품 A · 진단 워크숍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바꿀 업무와 파일럿 범위를 먼저 확정한다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51760" cy="118872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1~2일 워크숍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651760" cy="14630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초기형 300만–500만원</a:t>
            </a:r>
          </a:p>
          <a:p>
            <a:pPr algn="ctr"/>
            <a:r>
              <a:rPr sz="1300">
                <a:solidFill>
                  <a:srgbClr val="FFE8C8"/>
                </a:solidFill>
                <a:latin typeface="Malgun Gothic"/>
              </a:rPr>
              <a:t>확장형 500만–800만원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1920240"/>
            <a:ext cx="79095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주요 산출물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진단 요약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추천 workflow 초안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파일럿 후보 및 범위 제안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위험·확인 항목 목록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사람 검토 gate 초안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가격은 시장 검증 전 자사 가격 가설입니다. 범위와 인원·기간에 따라 최종 견적이 달라집니다.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7. 상품 B1/B2 · 6주 파일럿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실제 workflow와 사람 검토 체계를 6주간 시험한다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51760" cy="118872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6주 · 1팀 · 1핵심 업무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651760" cy="137160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1,000만–1,500만원</a:t>
            </a:r>
          </a:p>
          <a:p>
            <a:pPr algn="ctr"/>
            <a:r>
              <a:rPr sz="1100">
                <a:solidFill>
                  <a:srgbClr val="FFE8C8"/>
                </a:solidFill>
                <a:latin typeface="Malgun Gothic"/>
              </a:rPr>
              <a:t>상품 B1 · 디자인 파트너</a:t>
            </a:r>
          </a:p>
          <a:p>
            <a:pPr algn="ctr"/>
            <a:r>
              <a:rPr sz="1100">
                <a:solidFill>
                  <a:srgbClr val="FFE8C8"/>
                </a:solidFill>
                <a:latin typeface="Malgun Gothic"/>
              </a:rPr>
              <a:t>B2 표준 1,500만–2,500만원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1920240"/>
            <a:ext cx="79095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파일럿 진행 흐름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범위·책임·중단 조건 확정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현재 흐름·기준선 진단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승인 도구·금지 규칙 교육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새 workflow·운영 템플릿 설계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제한 파일럿 운영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KPI·위험·산출물 검토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W0 범위·책임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범위 확정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30552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136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W1 기준선 진단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기준선 측정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21608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22192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W2 직무별 교육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규칙 확인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2664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13248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W3 실제 실습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실습 결과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04304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W4 재설계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검토 gate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94776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0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W5 제한 파일럿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중간 보고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85832" y="5047488"/>
            <a:ext cx="91440" cy="91440"/>
          </a:xfrm>
          <a:prstGeom prst="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186416" y="4663440"/>
            <a:ext cx="1481328" cy="86868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W6 측정·플레이북</a:t>
            </a:r>
          </a:p>
          <a:p>
            <a:pPr algn="ctr"/>
            <a:r>
              <a:rPr sz="1000">
                <a:solidFill>
                  <a:srgbClr val="E8EEF5"/>
                </a:solidFill>
                <a:latin typeface="Malgun Gothic"/>
              </a:rPr>
              <a:t>▸ 플레이북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555A60"/>
                </a:solidFill>
                <a:latin typeface="Malgun Gothic"/>
              </a:rPr>
              <a:t>이 주차 구조는 제품을 정의하는 7단계 정체성이 아니라, 선택된 파일럿을 수행하는 delivery detail이다. 가격은 시장 검증 전 가설이다.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8. KPI와 위험을 함께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품질·사람 검토·정책 준수·팀 사용성을 함께 측정한다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KPI 후보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F3A5F"/>
                </a:solidFill>
                <a:latin typeface="Malgun Gothic"/>
              </a:rPr>
              <a:t>기준 생산시간 vs 파일럿 생산시간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9184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F3A5F"/>
                </a:solidFill>
                <a:latin typeface="Malgun Gothic"/>
              </a:rPr>
              <a:t>재작업률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F3A5F"/>
                </a:solidFill>
                <a:latin typeface="Malgun Gothic"/>
              </a:rPr>
              <a:t>사람 검토 통과율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6517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F3A5F"/>
                </a:solidFill>
                <a:latin typeface="Malgun Gothic"/>
              </a:rPr>
              <a:t>정책 위반 또는 중단 건수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29184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F3A5F"/>
                </a:solidFill>
                <a:latin typeface="Malgun Gothic"/>
              </a:rPr>
              <a:t>팀 참여·실제 사용률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93192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1F3A5F"/>
                </a:solidFill>
                <a:latin typeface="Malgun Gothic"/>
              </a:rPr>
              <a:t>결과물 품질 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KPI 후보: 미해결 위험과 운영 산출물 승인 여부 포함. 위험 경계: 민감정보 무제한 외부 입력 금지 · 사람 검토 없는 자동 게시 금지 · 고위험 판단 자동화 제외 · 사고·위반 시 중단 절차 사전 합의</a:t>
            </a:r>
          </a:p>
          <a:p>
            <a:pPr>
              <a:spcBef>
                <a:spcPts val="1000"/>
              </a:spcBef>
              <a:spcAft>
                <a:spcPts val="800"/>
              </a:spcAft>
            </a:pPr>
            <a:r>
              <a:rPr sz="1400" b="1">
                <a:solidFill>
                  <a:srgbClr val="C27B2D"/>
                </a:solidFill>
                <a:latin typeface="Malgun Gothic"/>
              </a:rPr>
              <a:t>성과를 보장하지 않는다. 기준선과 KPI로 변화 여부를 측정한다.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9. 상품 C와 가격 가설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범위 확인 후 최종 견적 — 모두 시장 검증 전 가설이다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A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진단 워크숍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초기형 300만–500만원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확장형 500만–800만원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B1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디자인 파트너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1,000만–1,500만원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6주 파일럿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B2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표준 파일럿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1,500만–2,500만원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6주 파일럿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92024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C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운영 자문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월 300만–600만원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월 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시장 검증 전 자사 가격 가설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범위·인원·기간에 따라 최종 견적 · VAT 조건은 최종 견적서에서 확정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10. 다음 행동과 계약 경계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126187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1955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진단 워크숍 또는 6주 파일럿의 범위를 먼저 확인한다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파디엠 ·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바꿀 업무 1건 선정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현재 흐름·병목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검토 지점 확인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사람 검토 지점 포함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A·B1/B2 적합 판단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진단 또는 파일럿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92024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범위·중단 조건 합의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일정·참여시간 포함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다음 행동: 범위·일정·고객 참여시간·중단 조건 합의 → 고객별 가격 가설 재승인 → 필요한 법률·계약 검토 후 최종 제안.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개인정보·저작권·조달은 고객별 확인 필요. SOW와 위험·데이터 부속서는 전문 법률·계약 검토 필요. 공공기관 계약방식은 기관 계약담당자 확인 필요.</a:t>
            </a:r>
          </a:p>
          <a:p>
            <a:pPr>
              <a:spcBef>
                <a:spcPts val="1000"/>
              </a:spcBef>
              <a:spcAft>
                <a:spcPts val="800"/>
              </a:spcAft>
            </a:pPr>
            <a:r>
              <a:rPr sz="1400" b="1">
                <a:solidFill>
                  <a:srgbClr val="1F3A5F"/>
                </a:solidFill>
                <a:latin typeface="Malgun Gothic"/>
              </a:rPr>
              <a:t>제공 및 계약 주체: 파디엠</a:t>
            </a:r>
          </a:p>
          <a:p>
            <a:pPr>
              <a:spcBef>
                <a:spcPts val="600"/>
              </a:spcBef>
              <a:spcAft>
                <a:spcPts val="800"/>
              </a:spcAft>
            </a:pPr>
            <a:r>
              <a:rPr sz="1200" b="0">
                <a:solidFill>
                  <a:srgbClr val="555A60"/>
                </a:solidFill>
                <a:latin typeface="Malgun Gothic"/>
              </a:rPr>
              <a:t>가격은 시장 검증 전 가설이며 범위·인원·기간에 따라 달라질 수 있다. 현재 문서는 내부 상업 초안이며 실제 계약·매출 발생 주장이 아니다.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2026-09-03T00:00:00Z</dcterms:created>
  <dcterms:modified xsi:type="dcterms:W3CDTF">2026-09-03T00:00:00Z</dcterms:modified>
  <cp:category/>
</cp:coreProperties>
</file>