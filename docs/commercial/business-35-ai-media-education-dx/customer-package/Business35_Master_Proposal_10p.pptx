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고객 조직의 콘텐츠 제작이 수작업에 의존하고, AI는 개인 단위로만 쓰이며, 검토·승인 기준이 없다는 점을 공감하며 설명한다.</a:t>
            </a:r>
          </a:p>
          <a:p/>
          <a:p>
            <a:r>
              <a:t>고객에게 물어볼 질문: 현재 콘텐츠 1건을 만드는 데 며칠이 걸리나요? 검토는 몇 단계인가요?</a:t>
            </a:r>
          </a:p>
          <a:p/>
          <a:p>
            <a:r>
              <a:t>과장해서는 안 되는 부분: 통계로 고객을 압박하지 않고, 고객의 실제 상황을 묻는 데 집중한다.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일반 AI 교육이 왜 실제 업무 변화로 이어지지 않는지 구조적으로 설명한다. 경쟁 강의를 비방하지 않는다.</a:t>
            </a:r>
          </a:p>
          <a:p/>
          <a:p>
            <a:r>
              <a:t>고객에게 물어볼 질문: 지난 교육을 받고 실제 업무에 반영된 것은 무엇인가요?</a:t>
            </a:r>
          </a:p>
          <a:p/>
          <a:p>
            <a:r>
              <a:t>과장해서는 안 되는 부분: 교육업체를 비판하는 어조를 쓰지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7단계 업무전환 구조를 설명하고, 결과물이 사람이 승인한 운영 플레이북임을 강조한다.</a:t>
            </a:r>
          </a:p>
          <a:p/>
          <a:p>
            <a:r>
              <a:t>고객에게 물어볼 질문: 현재 가장 바꾸고 싶은 업무가 무엇인가요?</a:t>
            </a:r>
          </a:p>
          <a:p/>
          <a:p>
            <a:r>
              <a:t>과장해서는 안 되는 부분: 전체 업무 전환을 보장하지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진단을 통해 고객 조직에 맞는 대상 업무 1개를 고르는 것을 안내한다. 합성 예시임을 분명히 한다.</a:t>
            </a:r>
          </a:p>
          <a:p/>
          <a:p>
            <a:r>
              <a:t>고객에게 물어볼 질문: 이 중 실제로 가장 시간이 오래 걸리는 업무는 무엇인가요?</a:t>
            </a:r>
          </a:p>
          <a:p/>
          <a:p>
            <a:r>
              <a:t>과장해서는 안 되는 부분: 실제 고객 성과 사례처럼 표현하지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진단 워크숍은 변화의 출발점이며, 고객 조직이 무엇을 바꿀지 함께 찾는 자리라고 설명한다.</a:t>
            </a:r>
          </a:p>
          <a:p/>
          <a:p>
            <a:r>
              <a:t>고객에게 물어볼 질문: 워크숍에 참여할 수 있는 팀과 일정이 있나요?</a:t>
            </a:r>
          </a:p>
          <a:p/>
          <a:p>
            <a:r>
              <a:t>과장해서는 안 되는 부분: 가격을 확정 가격처럼 말하지 않는다 — 가설임을 명시한다.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파일럿은 1팀·1핵심 업무로 제한되어 위험을 낮추고, 측정 가능한 결과를 만든다고 설명한다.</a:t>
            </a:r>
          </a:p>
          <a:p/>
          <a:p>
            <a:r>
              <a:t>고객에게 물어볼 질문: 파일럿 후보 업무가 있나요? 담당자를 지정할 수 있나요?</a:t>
            </a:r>
          </a:p>
          <a:p/>
          <a:p>
            <a:r>
              <a:t>과장해서는 안 되는 부분: 성과를 보장하지 않는다. 사람 검토 gate가 필수임을 명시한다.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6주 일정이 명확하다는 점을 보여준다. 각 주차의 산출물과 검토 gate가 계획서(04)에 있다고 안내한다.</a:t>
            </a:r>
          </a:p>
          <a:p/>
          <a:p>
            <a:r>
              <a:t>고객에게 물어볼 질문: 6주 동안 주당 2~4시간을 참여할 수 있나요?</a:t>
            </a:r>
          </a:p>
          <a:p/>
          <a:p>
            <a:r>
              <a:t>과장해서는 안 되는 부분: 일정이 모든 조직에 동일하게 적용된다고 단정하지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KPI는 속도·품질·채택·거버넌스 준수를 분리해 측정한다고 설명한다. 성과 보장이 아님을 강조한다.</a:t>
            </a:r>
          </a:p>
          <a:p/>
          <a:p>
            <a:r>
              <a:t>고객에게 물어볼 질문: 현재 어떤 기준으로 성과를 판단하고 있나요?</a:t>
            </a:r>
          </a:p>
          <a:p/>
          <a:p>
            <a:r>
              <a:t>과장해서는 안 되는 부분: KPI 목표 가설을 성과 보장으로 오인하지 않게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가격은 가설이며 범위·인원·기간에 따라 달라진다고 명확히 한다. VAT는 최종 견적서에서 확정된다고 말한다.</a:t>
            </a:r>
          </a:p>
          <a:p/>
          <a:p>
            <a:r>
              <a:t>고객에게 물어볼 질문: 어느 상품 범위가 관심 있나요?</a:t>
            </a:r>
          </a:p>
          <a:p/>
          <a:p>
            <a:r>
              <a:t>과장해서는 안 되는 부분: 경쟁사 평균 가격 주장, 정부지원금 수령 가능 주장을 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다음 단계를 명확히 제시하고, 첫 상담에서는 계약 압박이나 정부지원금 확정 발언을 하지 않는다.</a:t>
            </a:r>
          </a:p>
          <a:p/>
          <a:p>
            <a:r>
              <a:t>고객에게 물어볼 질문: 편하신 시간에 30분 상담을 잡을 수 있을까요?</a:t>
            </a:r>
          </a:p>
          <a:p/>
          <a:p>
            <a:r>
              <a:t>과장해서는 안 되는 부분: 정부지원금 수령 가능, 1억원 이하 자동 수의계약을 말하지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1. 현재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55A60"/>
                </a:solidFill>
                <a:latin typeface="Malgun Gothic"/>
              </a:rPr>
              <a:t>CUSTOMER-FACING MASTER · FINAL IDENTITY REQUIRED · LEGAL REVIEW REQUIRED · NOT YET SENT  ·  제안 제공자 정보는 발송 전 최종 확정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콘텐츠 제작·검토가 수작업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홍보물·안내문·뉴스레터를 만드는 데 여러 단계의 수동 검토가 걸립니다.</a:t>
            </a:r>
          </a:p>
          <a:p>
            <a:pPr>
              <a:spcAft>
                <a:spcPts val="600"/>
              </a:spcAft>
            </a:pPr>
            <a:r>
              <a:rPr sz="800" b="0">
                <a:solidFill>
                  <a:srgbClr val="555A60"/>
                </a:solidFill>
                <a:latin typeface="Malgun Gothic"/>
              </a:rPr>
              <a:t/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AI 사용이 개인 단위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조직원마다 개인적으로 AI 도구를 쓰지만, 조직 차원의 기준은 없습니다.</a:t>
            </a:r>
          </a:p>
          <a:p>
            <a:pPr>
              <a:spcAft>
                <a:spcPts val="600"/>
              </a:spcAft>
            </a:pPr>
            <a:r>
              <a:rPr sz="800" b="0">
                <a:solidFill>
                  <a:srgbClr val="555A60"/>
                </a:solidFill>
                <a:latin typeface="Malgun Gothic"/>
              </a:rPr>
              <a:t/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조직 기준 부재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검토·승인 기준, 사용정책, 금지 업무 규칙이 없어 위험이 커집니다.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2. 일반 AI 교육의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55A60"/>
                </a:solidFill>
                <a:latin typeface="Malgun Gothic"/>
              </a:rPr>
              <a:t>CUSTOMER-FACING MASTER · FINAL IDENTITY REQUIRED · LEGAL REVIEW REQUIRED · NOT YET SENT  ·  제안 제공자 정보는 발송 전 최종 확정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강의를 들어도 실제 업무가 바뀌지 않음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지식 전달은 되지만, 조직의 실제 업무 흐름과 연결되지 않으면 변화가 일어나지 않습니다.</a:t>
            </a:r>
          </a:p>
          <a:p>
            <a:pPr>
              <a:spcAft>
                <a:spcPts val="600"/>
              </a:spcAft>
            </a:pPr>
            <a:r>
              <a:rPr sz="800" b="0">
                <a:solidFill>
                  <a:srgbClr val="555A60"/>
                </a:solidFill>
                <a:latin typeface="Malgun Gothic"/>
              </a:rPr>
              <a:t/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정책·검토·승인·성과 측정과 연결되지 않음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교육 수료는 역량 보유를 보장하지 않습니다. 검토 gate, 승인 절차, 성과 측정이 없다면 실무 반영이 어렵습니다.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3. Business 35 방식 — AI 업무전환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55A60"/>
                </a:solidFill>
                <a:latin typeface="Malgun Gothic"/>
              </a:rPr>
              <a:t>CUSTOMER-FACING MASTER · FINAL IDENTITY REQUIRED · LEGAL REVIEW REQUIRED · NOT YET SENT  ·  제안 제공자 정보는 발송 전 최종 확정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A5F"/>
                </a:solidFill>
                <a:latin typeface="Malgun Gothic"/>
              </a:rPr>
              <a:t>교육에서 끝나지 않고, 실제 업무 진단·실습·재설계·파일럿·측정·플레이북까지 연결합니다.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749039"/>
            <a:ext cx="1417320" cy="137160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진단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03704" y="3749039"/>
            <a:ext cx="1417320" cy="137160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직무 교육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67328" y="3749039"/>
            <a:ext cx="1417320" cy="137160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실제 실습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0952" y="3749039"/>
            <a:ext cx="1417320" cy="137160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워크플로 재설계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94576" y="3749039"/>
            <a:ext cx="1417320" cy="137160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제한 파일럿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3749039"/>
            <a:ext cx="1417320" cy="137160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6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성과 측정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21824" y="3749039"/>
            <a:ext cx="1417320" cy="137160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7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운영 플레이북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4. 대상 업무 — 합성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55A60"/>
                </a:solidFill>
                <a:latin typeface="Malgun Gothic"/>
              </a:rPr>
              <a:t>CUSTOMER-FACING MASTER · FINAL IDENTITY REQUIRED · LEGAL REVIEW REQUIRED · NOT YET SENT  ·  제안 제공자 정보는 발송 전 최종 확정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지역 문화·교육·미디어 조직에서 자주 등장하는 대상 업무의 합성 예시입니다.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555A60"/>
                </a:solidFill>
                <a:latin typeface="Malgun Gothic"/>
              </a:rPr>
              <a:t>이것은 실제 고객 성과 사례가 아니라 대상 업무의 합성 예시입니다.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행사 홍보물 초안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교육 프로그램 안내문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8328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뉴스레터 초안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82880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SNS 콘텐츠 변환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60604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자료 요약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38328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검토 체크리스트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5. 상품 A — AI 업무전환 진단 워크숍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55A60"/>
                </a:solidFill>
                <a:latin typeface="Malgun Gothic"/>
              </a:rPr>
              <a:t>CUSTOMER-FACING MASTER · FINAL IDENTITY REQUIRED · LEGAL REVIEW REQUIRED · NOT YET SENT  ·  제안 제공자 정보는 발송 전 최종 확정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1~2일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업무 현황 인터뷰, AI 적용 후보 선정, 위험업무 제외, 직무별 실습, 경영진 결과 보고</a:t>
            </a:r>
          </a:p>
          <a:p>
            <a:pPr>
              <a:spcAft>
                <a:spcPts val="600"/>
              </a:spcAft>
            </a:pPr>
            <a:r>
              <a:rPr sz="800" b="0">
                <a:solidFill>
                  <a:srgbClr val="555A60"/>
                </a:solidFill>
                <a:latin typeface="Malgun Gothic"/>
              </a:rPr>
              <a:t/>
            </a:r>
          </a:p>
          <a:p>
            <a:pPr>
              <a:spcAft>
                <a:spcPts val="600"/>
              </a:spcAft>
            </a:pPr>
            <a:r>
              <a:rPr sz="2200" b="1">
                <a:solidFill>
                  <a:srgbClr val="C27B2D"/>
                </a:solidFill>
                <a:latin typeface="Malgun Gothic"/>
              </a:rPr>
              <a:t>초기 제안 300만~500만원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가격은 시장 검증 전 자사 가격 가설입니다. 범위와 인원·기간에 따라 최종 견적이 달라집니다.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6. 상품 B — 6주 디자인 파트너 파일럿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55A60"/>
                </a:solidFill>
                <a:latin typeface="Malgun Gothic"/>
              </a:rPr>
              <a:t>CUSTOMER-FACING MASTER · FINAL IDENTITY REQUIRED · LEGAL REVIEW REQUIRED · NOT YET SENT  ·  제안 제공자 정보는 발송 전 최종 확정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6주 · 1개 팀 · 1개 핵심 업무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기준선 측정 → 직무별 교육 → 실제 실습 → 워크플로 재설계 → 제한 파일럿 → 성과·위험 보고 → 운영 플레이북</a:t>
            </a:r>
          </a:p>
          <a:p>
            <a:pPr>
              <a:spcAft>
                <a:spcPts val="600"/>
              </a:spcAft>
            </a:pPr>
            <a:r>
              <a:rPr sz="800" b="0">
                <a:solidFill>
                  <a:srgbClr val="555A60"/>
                </a:solidFill>
                <a:latin typeface="Malgun Gothic"/>
              </a:rPr>
              <a:t/>
            </a:r>
          </a:p>
          <a:p>
            <a:pPr>
              <a:spcAft>
                <a:spcPts val="600"/>
              </a:spcAft>
            </a:pPr>
            <a:r>
              <a:rPr sz="2200" b="1">
                <a:solidFill>
                  <a:srgbClr val="C27B2D"/>
                </a:solidFill>
                <a:latin typeface="Malgun Gothic"/>
              </a:rPr>
              <a:t>1,000만~1,500만원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가격은 시장 검증 전 자사 가격 가설입니다. 범위와 인원·기간에 따라 최종 견적이 달라집니다.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7. 6주 수행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55A60"/>
                </a:solidFill>
                <a:latin typeface="Malgun Gothic"/>
              </a:rPr>
              <a:t>CUSTOMER-FACING MASTER · FINAL IDENTITY REQUIRED · LEGAL REVIEW REQUIRED · NOT YET SENT  ·  제안 제공자 정보는 발송 전 최종 확정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2011680" cy="566928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Week 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1554480"/>
            <a:ext cx="8778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계약·범위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12848"/>
            <a:ext cx="2011680" cy="566928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Week 1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2212848"/>
            <a:ext cx="8778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진단·기준선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71216"/>
            <a:ext cx="2011680" cy="566928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Week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871216"/>
            <a:ext cx="8778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교육·실습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529584"/>
            <a:ext cx="2011680" cy="566928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3529584"/>
            <a:ext cx="8778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재설계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87952"/>
            <a:ext cx="2011680" cy="566928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4187952"/>
            <a:ext cx="8778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제한 파일럿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846320"/>
            <a:ext cx="2011680" cy="566928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Week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4846320"/>
            <a:ext cx="8778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측정·보완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04688"/>
            <a:ext cx="2011680" cy="566928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5504688"/>
            <a:ext cx="8778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결과·운영 플레이북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8. KPI와 위험관리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55A60"/>
                </a:solidFill>
                <a:latin typeface="Malgun Gothic"/>
              </a:rPr>
              <a:t>CUSTOMER-FACING MASTER · FINAL IDENTITY REQUIRED · LEGAL REVIEW REQUIRED · NOT YET SENT  ·  제안 제공자 정보는 발송 전 최종 확정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KPI 예시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위험관리: 위험업무 제외, 사람 검토 gate, 승인 도구 외 사용 금지, 사고 시 중단 절차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C27B2D"/>
                </a:solidFill>
                <a:latin typeface="Malgun Gothic"/>
              </a:rPr>
              <a:t>KPI는 목표 가설이며 성과 보장을 의미하지 않습니다.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초안 작성시간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검토 회차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수정 반려율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82880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승인 소요시간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46888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참여자 task completion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10896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위험 사례 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9. 가격 가설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55A60"/>
                </a:solidFill>
                <a:latin typeface="Malgun Gothic"/>
              </a:rPr>
              <a:t>CUSTOMER-FACING MASTER · FINAL IDENTITY REQUIRED · LEGAL REVIEW REQUIRED · NOT YET SENT  ·  제안 제공자 정보는 발송 전 최종 확정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600" b="0">
                <a:solidFill>
                  <a:srgbClr val="555A60"/>
                </a:solidFill>
                <a:latin typeface="Malgun Gothic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27B2D"/>
                </a:solidFill>
                <a:latin typeface="Malgun Gothic"/>
              </a:rPr>
              <a:t>시장 검증 전 자사 가격 가설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27B2D"/>
                </a:solidFill>
                <a:latin typeface="Malgun Gothic"/>
              </a:rPr>
              <a:t>범위·인원·기간에 따라 최종 견적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27B2D"/>
                </a:solidFill>
                <a:latin typeface="Malgun Gothic"/>
              </a:rPr>
              <a:t>VAT 조건은 최종 견적서에서 확정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10881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700">
                <a:solidFill>
                  <a:srgbClr val="1F3A5F"/>
                </a:solidFill>
                <a:latin typeface="Malgun Gothic"/>
              </a:rPr>
              <a:t>A 진단 워크숍           300만–800만원  (초기 제안 300만–500만원)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23160"/>
            <a:ext cx="10881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700">
                <a:solidFill>
                  <a:srgbClr val="1F3A5F"/>
                </a:solidFill>
                <a:latin typeface="Malgun Gothic"/>
              </a:rPr>
              <a:t>B 디자인 파트너 파일럿    1,000만–1,500만원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08960"/>
            <a:ext cx="10881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700">
                <a:solidFill>
                  <a:srgbClr val="1F3A5F"/>
                </a:solidFill>
                <a:latin typeface="Malgun Gothic"/>
              </a:rPr>
              <a:t>B 표준 6주 파일럿         1,500만–2,500만원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794760"/>
            <a:ext cx="10881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700">
                <a:solidFill>
                  <a:srgbClr val="1F3A5F"/>
                </a:solidFill>
                <a:latin typeface="Malgun Gothic"/>
              </a:rPr>
              <a:t>C 조직 운영 자문          월 300만–600만원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10. 다음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55A60"/>
                </a:solidFill>
                <a:latin typeface="Malgun Gothic"/>
              </a:rPr>
              <a:t>CUSTOMER-FACING MASTER · FINAL IDENTITY REQUIRED · LEGAL REVIEW REQUIRED · NOT YET SENT  ·  제안 제공자 정보는 발송 전 최종 확정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2468880" cy="201168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500">
                <a:solidFill>
                  <a:srgbClr val="FFFFFF"/>
                </a:solidFill>
                <a:latin typeface="Malgun Gothic"/>
              </a:rPr>
              <a:t>30분 사전 상담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94560"/>
            <a:ext cx="2468880" cy="201168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500">
                <a:solidFill>
                  <a:srgbClr val="FFFFFF"/>
                </a:solidFill>
                <a:latin typeface="Malgun Gothic"/>
              </a:rPr>
              <a:t>대상 업무 1개 선정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94560"/>
            <a:ext cx="2468880" cy="201168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500">
                <a:solidFill>
                  <a:srgbClr val="FFFFFF"/>
                </a:solidFill>
                <a:latin typeface="Malgun Gothic"/>
              </a:rPr>
              <a:t>진단 워크숍 범위 확정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2194560"/>
            <a:ext cx="2468880" cy="201168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1500">
                <a:solidFill>
                  <a:srgbClr val="FFFFFF"/>
                </a:solidFill>
                <a:latin typeface="Malgun Gothic"/>
              </a:rPr>
              <a:t>견적·일정 승인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첫 상담에서 계약을 압박하지 않으며, 정부지원금 확정을 말하지 않습니다.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조직별 사용정책·검토체계, 개인정보·저작권·조달, 전문 법률·계약 검토가 필요합니다.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