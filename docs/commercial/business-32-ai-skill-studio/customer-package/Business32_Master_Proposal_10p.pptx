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1F2933"/>
                </a:solidFill>
                <a:latin typeface="NanumSquareRound"/>
              </a:rPr>
              <a:t>조직의 반복업무를</a:t>
            </a:r>
          </a:p>
          <a:p>
            <a:r>
              <a:rPr sz="4600" b="1">
                <a:solidFill>
                  <a:srgbClr val="2B6CB0"/>
                </a:solidFill>
                <a:latin typeface="NanumSquareRound"/>
              </a:rPr>
              <a:t>검증된 AI 업무 스킬로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B7280"/>
                </a:solidFill>
                <a:latin typeface="NanumSquareRound"/>
              </a:rPr>
              <a:t>입력자료·단계·증거·검토·예외·승인 기준이 포함된 재사용 가능한 AI 업무 스킬 전환 프로그램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621"/>
                </a:solidFill>
                <a:latin typeface="NanumSquareRound"/>
              </a:rPr>
              <a:t>Business 32 · AI Skill Studio — AI 업무 스킬 전환 프로그램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제안검토용 DRAFT · 합성 샘플 기반 · 가격은 가설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 · 제공자 정보 최종 확정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현재 문제 — 개인별 프롬프트와 일회성 AI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2606040" cy="132588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2933"/>
                </a:solidFill>
                <a:latin typeface="NanumSquareRound"/>
              </a:rPr>
              <a:t>개인별 AI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2331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팀 자산으로 축적되지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B6CB0"/>
                </a:solidFill>
                <a:latin typeface="NanumSquareRound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0712" y="1325880"/>
            <a:ext cx="2606040" cy="132588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2933"/>
                </a:solidFill>
                <a:latin typeface="NanumSquareRound"/>
              </a:rPr>
              <a:t>품질 편차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847088"/>
            <a:ext cx="2331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결과물이 사람마다 다름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2472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B6CB0"/>
                </a:solidFill>
                <a:latin typeface="NanumSquareRound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1325880"/>
            <a:ext cx="2606040" cy="132588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3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2933"/>
                </a:solidFill>
                <a:latin typeface="NanumSquareRound"/>
              </a:rPr>
              <a:t>근거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3" y="1847088"/>
            <a:ext cx="2331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만든 근거를 확인할 수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4543" y="1783080"/>
            <a:ext cx="228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B6CB0"/>
                </a:solidFill>
                <a:latin typeface="NanumSquareRound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1325880"/>
            <a:ext cx="2606040" cy="132588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2016" y="1463040"/>
            <a:ext cx="2331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2933"/>
                </a:solidFill>
                <a:latin typeface="NanumSquareRound"/>
              </a:rPr>
              <a:t>재작업·재시작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2016" y="1847088"/>
            <a:ext cx="2331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같은 업무를 반복할 때마다 다시 시작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NanumSquareRound"/>
              </a:rPr>
              <a:t>프롬프트가 개인 기억에만 남아 팀 자산으로 축적되지 않습니다.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NanumSquareRound"/>
              </a:rPr>
              <a:t>검토·승인 기준이 명확하지 않아 결과물을 다시 고쳐야 합니다.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NanumSquareRound"/>
              </a:rPr>
              <a:t>실수를 발견해도 다음에 같은 실수가 반복됩니다.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F2933"/>
                </a:solidFill>
                <a:latin typeface="NanumSquareRound"/>
              </a:rPr>
              <a:t>AI가 무엇을 근거로 만들었는지 확인할 방법이 없습니다.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03520"/>
            <a:ext cx="11064240" cy="914400"/>
          </a:xfrm>
          <a:prstGeom prst="rect">
            <a:avLst/>
          </a:prstGeom>
          <a:solidFill>
            <a:srgbClr val="F5F1E7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NanumSquareRound"/>
              </a:rPr>
              <a:t>해결 방향: 반복업무 하나를, 증거와 검토·승인 기준이 붙은 재사용 가능한 절차로 전환합니다.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왜 일반 AI 교육만으로는 부족한가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3566160"/>
          </a:xfrm>
          <a:prstGeom prst="rect">
            <a:avLst/>
          </a:prstGeom>
          <a:solidFill>
            <a:srgbClr val="F5F1E7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53030"/>
                </a:solidFill>
                <a:latin typeface="NanumSquareRound"/>
              </a:rPr>
              <a:t>일반 AI 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'할 수 있는 일'을 보여주지만 특정 업무를 고정하지 않습니다.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교육 후 개인별 사용으로 돌아가 조직 절차로 남지 않습니다.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업무별 입력자료·증거·예외·승인 기준은 조직마다 달라 규격화되지 않습니다.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사람 검토·승인 흐름을 업무 절차로 묶지 않습니다.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394960" cy="356616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F855A"/>
                </a:solidFill>
                <a:latin typeface="NanumSquareRound"/>
              </a:rPr>
              <a:t>Business 32 전환 프로그램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반복업무 1개를 고객과 함께 선정하고 고정합니다.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입력자료·단계·증거·검토·예외·승인 기준을 스킬에 포함합니다.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검토·승인 흐름을 업무 절차로 통합합니다.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증거와 함께 재사용 가능한 스킬 카드로 납품합니다.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120640"/>
            <a:ext cx="11109960" cy="91440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핵심 차이: '할 수 있는 일'이 아니라, 조직 업무 1개를 증거와 검토·승인 기준이 붙은 재사용 가능한 스킬로 전환합니다.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Business 32의 전환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반복업무 선정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업무 1개를 고객과 함께 선정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37160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입력·증거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06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필수 입력자료와 증거 요구사항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단계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060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실행·AI 보조·사람 판단 단계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490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검토·승인 정의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검토 기준·승인 기준·예외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7490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합성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검증된 프론트엔드로 합성 실행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3566160"/>
            <a:ext cx="3566160" cy="18288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749040"/>
            <a:ext cx="1280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B6CB0"/>
                </a:solidFill>
                <a:latin typeface="NanumSquareRoun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3"/>
                </a:solidFill>
                <a:latin typeface="NanumSquareRound"/>
              </a:rPr>
              <a:t>스킬 카드 납품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00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검증된 조직 AI 업무 스킬 패키지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검증된 업무 스킬의 구성 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업무 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이 스킬이 해결하는 업무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8016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898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사용자와 검토자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5564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실행자·검토자 역할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38988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입력자료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75564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필수 입력과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51460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243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실행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9008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업무 수행 순서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51460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26243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AI 보조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299008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AI가 돕는 단계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51460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62432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사람 판단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99008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사람이 결정하는 단계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749039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5876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필수 증거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224527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근거 연결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3749039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85876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검토·승인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224527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검토 체크와 승인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749039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858767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누락·충돌 처리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24527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자동 추정·자동 판정 금지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8348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932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예외·금지 사용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45896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예외 경고와 금지 기준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34840" y="498348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50932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재실행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17720" y="545896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수정·재실행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983480"/>
            <a:ext cx="3566160" cy="109728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093208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855A"/>
                </a:solidFill>
                <a:latin typeface="NanumSquareRound"/>
              </a:rPr>
              <a:t>버전·다음 검토일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458968"/>
            <a:ext cx="3200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NanumSquareRound"/>
              </a:rPr>
              <a:t>분기 검토·버전 갱신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Offer A — AI 업무 스킬 설계 워크숍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기간: 1~2일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범위: 업무 1개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80160"/>
            <a:ext cx="4023360" cy="6400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300만~500만원 — 가격 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9496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업무 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필요 입력자료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실행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AI 보조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사람 판단 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743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검토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3246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금지 업무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749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예외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39" y="4251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스킬 초안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530352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실행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432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반복업무 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6382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6382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분석·설계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84448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합성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050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00507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사람 검토·승인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2569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25696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스킬 카드 납품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463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분기 검토·버전 갱신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모든 실행은 합성 데이터 기반이며, 사람 검토와 승인을 포함합니다. 가격은 시장 검증 전 가설입니다.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Offer B — AI 업무 스킬 전환 스프린트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기간: 2~3주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범위: 업무 1개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80160"/>
            <a:ext cx="4023360" cy="6400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500만~800만원 — 가격 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9496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업무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46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합성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증거 요구사항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누락·충돌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실행자·검토자 역할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743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수정·재실행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324612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최종 승인 기준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39" y="3749039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검증된 스킬 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39" y="42519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운영 가이드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48840"/>
            <a:ext cx="530352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실행 흐름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432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반복업무 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6382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16382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분석·설계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84448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합성 실행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050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00507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사람 검토·승인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42569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425696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스킬 카드 납품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8463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분기 검토·버전 갱신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모든 실행은 합성 데이터 기반이며, 사람 검토와 승인을 포함합니다. 가격은 시장 검증 전 가설입니다.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Offer C — 팀 AI 스킬 라이브러리 파일럿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기간: 4~6주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9080" y="1280160"/>
            <a:ext cx="3291840" cy="64008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범위: 업무 3개 · 팀 1개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280160"/>
            <a:ext cx="4023360" cy="640080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NanumSquareRound"/>
              </a:rPr>
              <a:t>1,200만~2,000만원 — 가격 가설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48840"/>
            <a:ext cx="539496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산출물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432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검증된 스킬 3개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6382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역할·승인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844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버전 관리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05072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금지 사용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25696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분기 검토 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• 팀 운영 플레이북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48840"/>
            <a:ext cx="5303520" cy="329184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2860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933"/>
                </a:solidFill>
                <a:latin typeface="NanumSquareRound"/>
              </a:rPr>
              <a:t>실행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74320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반복업무 선정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63824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16382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분석·설계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84448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584448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합성 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05072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00507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사람 검토·승인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25696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25696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스킬 카드 납품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502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855A"/>
                </a:solidFill>
                <a:latin typeface="NanumSquareRoun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4632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1F2933"/>
                </a:solidFill>
                <a:latin typeface="NanumSquareRound"/>
              </a:rPr>
              <a:t>분기 검토·버전 갱신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NanumSquareRound"/>
              </a:rPr>
              <a:t>모든 실행은 합성 데이터 기반이며, 사람 검토와 승인을 포함합니다. 가격은 시장 검증 전 가설입니다.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가격 가설 · 적합 고객 · 위험 경계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DRAFT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5394960" cy="2286000"/>
          </a:xfrm>
          <a:prstGeom prst="rect">
            <a:avLst/>
          </a:prstGeom>
          <a:solidFill>
            <a:srgbClr val="F5F1E7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53030"/>
                </a:solidFill>
                <a:latin typeface="NanumSquareRound"/>
              </a:rPr>
              <a:t>가격 가설 (시장 검증 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Offer A (1~2일): 300만~500만원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Offer B (2~3주): 500만~800만원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Offer C (4~6주): 1,200만~2,000만원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구독·분기 검토: 가설 범위·산정 기준만 안내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394960" cy="2286000"/>
          </a:xfrm>
          <a:prstGeom prst="rect">
            <a:avLst/>
          </a:prstGeom>
          <a:solidFill>
            <a:srgbClr val="F5F1E7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39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B6CB0"/>
                </a:solidFill>
                <a:latin typeface="NanumSquareRound"/>
              </a:rPr>
              <a:t>적합 고객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반복업무가 주 1회 이상 반복되는 조직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검토·승인자가 존재하는 조직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업무 1개 파일럿부터 시작 가능한 조직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94760"/>
            <a:ext cx="5394960" cy="2286000"/>
          </a:xfrm>
          <a:prstGeom prst="rect">
            <a:avLst/>
          </a:prstGeom>
          <a:solidFill>
            <a:srgbClr val="F5F1E7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5621"/>
                </a:solidFill>
                <a:latin typeface="NanumSquareRound"/>
              </a:rPr>
              <a:t>비적합 고객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전사 자동화를 한 번에 요구하는 경우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사람 검토를 배제하려는 경우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성과(수익) 보장을 요구하는 경우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794760"/>
            <a:ext cx="5394960" cy="2286000"/>
          </a:xfrm>
          <a:prstGeom prst="rect">
            <a:avLst/>
          </a:prstGeom>
          <a:solidFill>
            <a:srgbClr val="F5F1E7"/>
          </a:solidFill>
          <a:ln w="19050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931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7791F"/>
                </a:solidFill>
                <a:latin typeface="NanumSquareRound"/>
              </a:rPr>
              <a:t>위험 경계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정확성 보장·오류 없음·직원 대체 표현 금지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사람 검토와 승인을 항상 포함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1F2933"/>
                </a:solidFill>
                <a:latin typeface="NanumSquareRound"/>
              </a:rPr>
              <a:t>파일럿 결과에 따라 확대 여부 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Business 32 · AI Skill Studio · AI 업무 스킬 전환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3"/>
                </a:solidFill>
                <a:latin typeface="NanumSquareRound"/>
              </a:rPr>
              <a:t>다음 단계 — 반복업무 1개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1828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anumSquareRoun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NanumSquareRound"/>
              </a:rPr>
              <a:t>가격 가설 · 제공자 정보 최종 확정 필요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NanumSquareRound"/>
              </a:rPr>
              <a:t>1단계: Skill Discovery Worksheet으로 반복업무 1개 선정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NanumSquareRound"/>
              </a:rPr>
              <a:t>2단계: 업무 흐름·소요시간·검토 구조만 확인 (실제 파일 불필요)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NanumSquareRound"/>
              </a:rPr>
              <a:t>3단계: Offer A(워크숍) 또는 B(스프린트) 파일럿 진행 여부 검토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NanumSquareRound"/>
              </a:rPr>
              <a:t>4단계: 검증된 스킬 카드 납품 후 분기별 검토·버전 갱신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54880"/>
            <a:ext cx="10881360" cy="1188720"/>
          </a:xfrm>
          <a:prstGeom prst="rect">
            <a:avLst/>
          </a:prstGeom>
          <a:solidFill>
            <a:srgbClr val="F5F1E7"/>
          </a:solidFill>
          <a:ln w="19050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200" b="1">
                <a:solidFill>
                  <a:srgbClr val="1F2933"/>
                </a:solidFill>
                <a:latin typeface="NanumSquareRound"/>
              </a:rPr>
              <a:t>첫 상담에서는 고객의 실제 비공개 파일을 요구하지 않습니다. 업무명·단계·소요시간·검토 구조만 확인합니다.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